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1019E1-C1A5-4438-93AE-FC310FA8C23B}">
  <a:tblStyle styleId="{C71019E1-C1A5-4438-93AE-FC310FA8C2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this is Petal Shop, my final DevOps project. The app is a small online shop. What I want to show is how it is tested, packaged, secured, deployed to Kubernetes and AWS, and monitored.</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Petal Shop is a small online shop. You can see products, filter them by category, and add, edit or delete them. I kept the app simple so the focus stays on the DevOps part.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app has three parts. The frontend is what the user sees, built with React and served by Nginx. The backend handles the requests, written in Python with FastAPI. The database stores the products, in PostgreSQL. Each part runs in its own Docker container.</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steps. The first four run automatically on every push to GitHub, using GitHub Actions. The last three I ran myself: AWS with Terraform, Kubernetes with Helm, and monitoring with Prometheus and Grafana. The next slides show each step.</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anything is built, the tests run. There are 23 tests covering every endpoint: listing, creating, updating and deleting products, plus bad input. They use a separate SQLite database so they never touch the real data.</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Kubernetes, I ran the whole app with Docker Compose. One command builds the images and starts the three containers. The backend waits until the database is healthy before it starts.</a:t>
            </a:r>
            <a:endParaRPr/>
          </a:p>
        </p:txBody>
      </p:sp>
      <p:sp>
        <p:nvSpPr>
          <p:cNvPr id="106" name="Google Shape;10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my GitHub Actions pipeline. On every push to main it runs the tests and builds the frontend, then builds the Docker images, scans them with Trivy and pushes them to the registry. Both jobs passed.</a:t>
            </a:r>
            <a:endParaRPr/>
          </a:p>
        </p:txBody>
      </p:sp>
      <p:sp>
        <p:nvSpPr>
          <p:cNvPr id="116" name="Google Shape;1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Trivy scans both images for known security problems. The first time, it found 2 critical and 39 high issues in the frontend image, so the pipeline stopped before pushing anything. I moved to newer base images and updated the backend libraries, and now both scans pass.</a:t>
            </a:r>
            <a:endParaRPr/>
          </a:p>
        </p:txBody>
      </p:sp>
      <p:sp>
        <p:nvSpPr>
          <p:cNvPr id="126" name="Google Shape;12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the scan passes, the pipeline pushes both images to GitHub's container registry. Each image is tagged with the exact commit ID, so every image can be traced back to its code.</a:t>
            </a:r>
            <a:endParaRPr/>
          </a:p>
        </p:txBody>
      </p:sp>
      <p:sp>
        <p:nvSpPr>
          <p:cNvPr id="140" name="Google Shape;1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Instead of clicking through the AWS console, I described the infrastructure in Terraform files. terraform apply created the network and an EKS Kubernetes cluster called petal-shop-cluster in the Mumbai region.</a:t>
            </a:r>
            <a:endParaRPr/>
          </a:p>
        </p:txBody>
      </p:sp>
      <p:sp>
        <p:nvSpPr>
          <p:cNvPr id="151" name="Google Shape;1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cluster running in the AWS console, status Active. After checking it, I ran terraform destroy, which removed all 15 resources so nothing keeps running and costing money.</a:t>
            </a:r>
            <a:endParaRPr/>
          </a:p>
        </p:txBody>
      </p:sp>
      <p:sp>
        <p:nvSpPr>
          <p:cNvPr id="163" name="Google Shape;1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Helm packages all the Kubernetes files for the app into one chart. One command installs or upgrades the whole app: the database, the backend and the frontend.</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app on Kubernetes. Five pods are running: two copies of the backend, two of the frontend and one database. If one crashes, Kubernetes starts it again.</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same shop opened at petal.local. The Ingress is the entry point of the cluster: it sends the page to the frontend and the API calls to the backend.</a:t>
            </a:r>
            <a:endParaRPr/>
          </a:p>
        </p:txBody>
      </p:sp>
      <p:sp>
        <p:nvSpPr>
          <p:cNvPr id="197" name="Google Shape;19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Prometheus collects live numbers from the backend every 15 seconds, and Grafana turns them into this dashboard: total requests, requests per second, errors and response time.</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were other ways to run the app. By hand on a server is simple to start but slow and easy to break. Docker Compose is great on one machine but cannot restart itself or scale. I chose Kubernetes because it restarts anything that crashes, runs two copies of each part, and can update the app without downtime. The cost is that there is more to learn.</a:t>
            </a:r>
            <a:endParaRPr/>
          </a:p>
        </p:txBody>
      </p:sp>
      <p:sp>
        <p:nvSpPr>
          <p:cNvPr id="219" name="Google Shape;2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is Petal Shop: tested, packaged, scanned, published, deployed to Kubernetes and AWS, and monitored. The code and a demo video are linked here. Thank you, I'm happy to take questions.</a:t>
            </a:r>
            <a:endParaRPr/>
          </a:p>
        </p:txBody>
      </p:sp>
      <p:sp>
        <p:nvSpPr>
          <p:cNvPr id="227" name="Google Shape;22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457200" y="1417320"/>
            <a:ext cx="4206240" cy="8686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457200" y="2423160"/>
            <a:ext cx="420624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dk2"/>
              </a:buClr>
              <a:buSzPts val="2000"/>
              <a:buFont typeface="Arial"/>
              <a:buNone/>
              <a:defRPr b="0" i="0" sz="2000" u="none" cap="none" strike="noStrike">
                <a:solidFill>
                  <a:schemeClr val="dk2"/>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320040"/>
            <a:ext cx="8229600" cy="594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dk2"/>
                </a:solidFill>
                <a:latin typeface="Arial"/>
                <a:ea typeface="Arial"/>
                <a:cs typeface="Arial"/>
                <a:sym typeface="Arial"/>
              </a:defRPr>
            </a:lvl1pPr>
            <a:lvl2pPr indent="0" lvl="1" marL="0" marR="0" algn="r">
              <a:spcBef>
                <a:spcPts val="0"/>
              </a:spcBef>
              <a:buNone/>
              <a:defRPr b="0" i="0" sz="1000" u="none" cap="none" strike="noStrike">
                <a:solidFill>
                  <a:schemeClr val="dk2"/>
                </a:solidFill>
                <a:latin typeface="Arial"/>
                <a:ea typeface="Arial"/>
                <a:cs typeface="Arial"/>
                <a:sym typeface="Arial"/>
              </a:defRPr>
            </a:lvl2pPr>
            <a:lvl3pPr indent="0" lvl="2" marL="0" marR="0" algn="r">
              <a:spcBef>
                <a:spcPts val="0"/>
              </a:spcBef>
              <a:buNone/>
              <a:defRPr b="0" i="0" sz="1000" u="none" cap="none" strike="noStrike">
                <a:solidFill>
                  <a:schemeClr val="dk2"/>
                </a:solidFill>
                <a:latin typeface="Arial"/>
                <a:ea typeface="Arial"/>
                <a:cs typeface="Arial"/>
                <a:sym typeface="Arial"/>
              </a:defRPr>
            </a:lvl3pPr>
            <a:lvl4pPr indent="0" lvl="3" marL="0" marR="0" algn="r">
              <a:spcBef>
                <a:spcPts val="0"/>
              </a:spcBef>
              <a:buNone/>
              <a:defRPr b="0" i="0" sz="1000" u="none" cap="none" strike="noStrike">
                <a:solidFill>
                  <a:schemeClr val="dk2"/>
                </a:solidFill>
                <a:latin typeface="Arial"/>
                <a:ea typeface="Arial"/>
                <a:cs typeface="Arial"/>
                <a:sym typeface="Arial"/>
              </a:defRPr>
            </a:lvl4pPr>
            <a:lvl5pPr indent="0" lvl="4" marL="0" marR="0" algn="r">
              <a:spcBef>
                <a:spcPts val="0"/>
              </a:spcBef>
              <a:buNone/>
              <a:defRPr b="0" i="0" sz="1000" u="none" cap="none" strike="noStrike">
                <a:solidFill>
                  <a:schemeClr val="dk2"/>
                </a:solidFill>
                <a:latin typeface="Arial"/>
                <a:ea typeface="Arial"/>
                <a:cs typeface="Arial"/>
                <a:sym typeface="Arial"/>
              </a:defRPr>
            </a:lvl5pPr>
            <a:lvl6pPr indent="0" lvl="5" marL="0" marR="0" algn="r">
              <a:spcBef>
                <a:spcPts val="0"/>
              </a:spcBef>
              <a:buNone/>
              <a:defRPr b="0" i="0" sz="1000" u="none" cap="none" strike="noStrike">
                <a:solidFill>
                  <a:schemeClr val="dk2"/>
                </a:solidFill>
                <a:latin typeface="Arial"/>
                <a:ea typeface="Arial"/>
                <a:cs typeface="Arial"/>
                <a:sym typeface="Arial"/>
              </a:defRPr>
            </a:lvl6pPr>
            <a:lvl7pPr indent="0" lvl="6" marL="0" marR="0" algn="r">
              <a:spcBef>
                <a:spcPts val="0"/>
              </a:spcBef>
              <a:buNone/>
              <a:defRPr b="0" i="0" sz="1000" u="none" cap="none" strike="noStrike">
                <a:solidFill>
                  <a:schemeClr val="dk2"/>
                </a:solidFill>
                <a:latin typeface="Arial"/>
                <a:ea typeface="Arial"/>
                <a:cs typeface="Arial"/>
                <a:sym typeface="Arial"/>
              </a:defRPr>
            </a:lvl7pPr>
            <a:lvl8pPr indent="0" lvl="7" marL="0" marR="0" algn="r">
              <a:spcBef>
                <a:spcPts val="0"/>
              </a:spcBef>
              <a:buNone/>
              <a:defRPr b="0" i="0" sz="1000" u="none" cap="none" strike="noStrike">
                <a:solidFill>
                  <a:schemeClr val="dk2"/>
                </a:solidFill>
                <a:latin typeface="Arial"/>
                <a:ea typeface="Arial"/>
                <a:cs typeface="Arial"/>
                <a:sym typeface="Arial"/>
              </a:defRPr>
            </a:lvl8pPr>
            <a:lvl9pPr indent="0" lvl="8" marL="0" marR="0" algn="r">
              <a:spcBef>
                <a:spcPts val="0"/>
              </a:spcBef>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dk2"/>
                </a:solidFill>
                <a:latin typeface="Arial"/>
                <a:ea typeface="Arial"/>
                <a:cs typeface="Arial"/>
                <a:sym typeface="Arial"/>
              </a:defRPr>
            </a:lvl1pPr>
            <a:lvl2pPr indent="0" lvl="1" marL="0" marR="0" rtl="0" algn="r">
              <a:spcBef>
                <a:spcPts val="0"/>
              </a:spcBef>
              <a:buNone/>
              <a:defRPr b="0" i="0" sz="1000" u="none" cap="none" strike="noStrike">
                <a:solidFill>
                  <a:schemeClr val="dk2"/>
                </a:solidFill>
                <a:latin typeface="Arial"/>
                <a:ea typeface="Arial"/>
                <a:cs typeface="Arial"/>
                <a:sym typeface="Arial"/>
              </a:defRPr>
            </a:lvl2pPr>
            <a:lvl3pPr indent="0" lvl="2" marL="0" marR="0" rtl="0" algn="r">
              <a:spcBef>
                <a:spcPts val="0"/>
              </a:spcBef>
              <a:buNone/>
              <a:defRPr b="0" i="0" sz="1000" u="none" cap="none" strike="noStrike">
                <a:solidFill>
                  <a:schemeClr val="dk2"/>
                </a:solidFill>
                <a:latin typeface="Arial"/>
                <a:ea typeface="Arial"/>
                <a:cs typeface="Arial"/>
                <a:sym typeface="Arial"/>
              </a:defRPr>
            </a:lvl3pPr>
            <a:lvl4pPr indent="0" lvl="3" marL="0" marR="0" rtl="0" algn="r">
              <a:spcBef>
                <a:spcPts val="0"/>
              </a:spcBef>
              <a:buNone/>
              <a:defRPr b="0" i="0" sz="1000" u="none" cap="none" strike="noStrike">
                <a:solidFill>
                  <a:schemeClr val="dk2"/>
                </a:solidFill>
                <a:latin typeface="Arial"/>
                <a:ea typeface="Arial"/>
                <a:cs typeface="Arial"/>
                <a:sym typeface="Arial"/>
              </a:defRPr>
            </a:lvl4pPr>
            <a:lvl5pPr indent="0" lvl="4" marL="0" marR="0" rtl="0" algn="r">
              <a:spcBef>
                <a:spcPts val="0"/>
              </a:spcBef>
              <a:buNone/>
              <a:defRPr b="0" i="0" sz="1000" u="none" cap="none" strike="noStrike">
                <a:solidFill>
                  <a:schemeClr val="dk2"/>
                </a:solidFill>
                <a:latin typeface="Arial"/>
                <a:ea typeface="Arial"/>
                <a:cs typeface="Arial"/>
                <a:sym typeface="Arial"/>
              </a:defRPr>
            </a:lvl5pPr>
            <a:lvl6pPr indent="0" lvl="5" marL="0" marR="0" rtl="0" algn="r">
              <a:spcBef>
                <a:spcPts val="0"/>
              </a:spcBef>
              <a:buNone/>
              <a:defRPr b="0" i="0" sz="1000" u="none" cap="none" strike="noStrike">
                <a:solidFill>
                  <a:schemeClr val="dk2"/>
                </a:solidFill>
                <a:latin typeface="Arial"/>
                <a:ea typeface="Arial"/>
                <a:cs typeface="Arial"/>
                <a:sym typeface="Arial"/>
              </a:defRPr>
            </a:lvl6pPr>
            <a:lvl7pPr indent="0" lvl="6" marL="0" marR="0" rtl="0" algn="r">
              <a:spcBef>
                <a:spcPts val="0"/>
              </a:spcBef>
              <a:buNone/>
              <a:defRPr b="0" i="0" sz="1000" u="none" cap="none" strike="noStrike">
                <a:solidFill>
                  <a:schemeClr val="dk2"/>
                </a:solidFill>
                <a:latin typeface="Arial"/>
                <a:ea typeface="Arial"/>
                <a:cs typeface="Arial"/>
                <a:sym typeface="Arial"/>
              </a:defRPr>
            </a:lvl7pPr>
            <a:lvl8pPr indent="0" lvl="7" marL="0" marR="0" rtl="0" algn="r">
              <a:spcBef>
                <a:spcPts val="0"/>
              </a:spcBef>
              <a:buNone/>
              <a:defRPr b="0" i="0" sz="1000" u="none" cap="none" strike="noStrike">
                <a:solidFill>
                  <a:schemeClr val="dk2"/>
                </a:solidFill>
                <a:latin typeface="Arial"/>
                <a:ea typeface="Arial"/>
                <a:cs typeface="Arial"/>
                <a:sym typeface="Arial"/>
              </a:defRPr>
            </a:lvl8pPr>
            <a:lvl9pPr indent="0" lvl="8" marL="0" marR="0" rtl="0" algn="r">
              <a:spcBef>
                <a:spcPts val="0"/>
              </a:spcBef>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anishkanase-scaler/Devops-Capstone" TargetMode="External"/><Relationship Id="rId4" Type="http://schemas.openxmlformats.org/officeDocument/2006/relationships/hyperlink" Target="https://github.com/anishkanase-scaler/Devops-Capstone"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github.com/anishkanase-scaler/Devops-Capstone" TargetMode="External"/><Relationship Id="rId4" Type="http://schemas.openxmlformats.org/officeDocument/2006/relationships/hyperlink" Target="https://drive.google.com/drive/folders/1eQ9GsEEKd5uq27uqpHmT0j0bvrJPos4W?usp=drive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5"/>
          <p:cNvSpPr txBox="1"/>
          <p:nvPr>
            <p:ph type="title"/>
          </p:nvPr>
        </p:nvSpPr>
        <p:spPr>
          <a:xfrm>
            <a:off x="457200" y="1417320"/>
            <a:ext cx="4206240" cy="8686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4400"/>
              <a:buFont typeface="Arial"/>
              <a:buNone/>
            </a:pPr>
            <a:r>
              <a:rPr b="1" lang="en-US" sz="4400">
                <a:solidFill>
                  <a:schemeClr val="dk1"/>
                </a:solidFill>
              </a:rPr>
              <a:t>Petal Shop</a:t>
            </a:r>
            <a:endParaRPr sz="4400"/>
          </a:p>
        </p:txBody>
      </p:sp>
      <p:sp>
        <p:nvSpPr>
          <p:cNvPr id="24" name="Google Shape;24;p5"/>
          <p:cNvSpPr txBox="1"/>
          <p:nvPr>
            <p:ph idx="1" type="body"/>
          </p:nvPr>
        </p:nvSpPr>
        <p:spPr>
          <a:xfrm>
            <a:off x="457200" y="2423160"/>
            <a:ext cx="420624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000"/>
              <a:buNone/>
            </a:pPr>
            <a:r>
              <a:rPr lang="en-US" sz="2000">
                <a:solidFill>
                  <a:schemeClr val="dk2"/>
                </a:solidFill>
              </a:rPr>
              <a:t>DevOps &amp; Cloud [SWE] Final Project</a:t>
            </a:r>
            <a:endParaRPr sz="2000"/>
          </a:p>
        </p:txBody>
      </p:sp>
      <p:sp>
        <p:nvSpPr>
          <p:cNvPr id="25" name="Google Shape;25;p5">
            <a:hlinkClick r:id="rId3"/>
          </p:cNvPr>
          <p:cNvSpPr txBox="1"/>
          <p:nvPr/>
        </p:nvSpPr>
        <p:spPr>
          <a:xfrm>
            <a:off x="457200" y="3383280"/>
            <a:ext cx="4206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0" i="0" lang="en-US" sz="1400" u="sng" cap="none" strike="noStrike">
                <a:solidFill>
                  <a:schemeClr val="hlink"/>
                </a:solidFill>
                <a:latin typeface="Arial"/>
                <a:ea typeface="Arial"/>
                <a:cs typeface="Arial"/>
                <a:sym typeface="Arial"/>
                <a:hlinkClick r:id="rId4"/>
              </a:rPr>
              <a:t>github.com/anishkanase-scaler/Devops-Capstone</a:t>
            </a:r>
            <a:endParaRPr b="0" i="0" sz="1400" u="none" cap="none" strike="noStrike">
              <a:solidFill>
                <a:schemeClr val="dk1"/>
              </a:solidFill>
              <a:latin typeface="Arial"/>
              <a:ea typeface="Arial"/>
              <a:cs typeface="Arial"/>
              <a:sym typeface="Arial"/>
            </a:endParaRPr>
          </a:p>
        </p:txBody>
      </p:sp>
      <p:pic>
        <p:nvPicPr>
          <p:cNvPr descr="Petal Shop app" id="26" name="Google Shape;26;p5"/>
          <p:cNvPicPr preferRelativeResize="0"/>
          <p:nvPr/>
        </p:nvPicPr>
        <p:blipFill rotWithShape="1">
          <a:blip r:embed="rId5">
            <a:alphaModFix/>
          </a:blip>
          <a:srcRect b="0" l="0" r="0" t="0"/>
          <a:stretch/>
        </p:blipFill>
        <p:spPr>
          <a:xfrm>
            <a:off x="4937760" y="1188720"/>
            <a:ext cx="3749040" cy="2239010"/>
          </a:xfrm>
          <a:prstGeom prst="rect">
            <a:avLst/>
          </a:prstGeom>
          <a:noFill/>
          <a:ln>
            <a:noFill/>
          </a:ln>
        </p:spPr>
      </p:pic>
      <p:sp>
        <p:nvSpPr>
          <p:cNvPr id="27" name="Google Shape;27;p5"/>
          <p:cNvSpPr/>
          <p:nvPr/>
        </p:nvSpPr>
        <p:spPr>
          <a:xfrm>
            <a:off x="4937760" y="1188720"/>
            <a:ext cx="3749040" cy="2239010"/>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6"/>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What I built</a:t>
            </a:r>
            <a:endParaRPr sz="3000"/>
          </a:p>
        </p:txBody>
      </p:sp>
      <p:sp>
        <p:nvSpPr>
          <p:cNvPr id="34" name="Google Shape;34;p6"/>
          <p:cNvSpPr txBox="1"/>
          <p:nvPr/>
        </p:nvSpPr>
        <p:spPr>
          <a:xfrm>
            <a:off x="457200" y="1234440"/>
            <a:ext cx="265176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 small online shop where you can see, add, edit and delete products.</a:t>
            </a:r>
            <a:endParaRPr b="0" i="0" sz="1800" u="none" cap="none" strike="noStrike">
              <a:solidFill>
                <a:schemeClr val="dk1"/>
              </a:solidFill>
              <a:latin typeface="Arial"/>
              <a:ea typeface="Arial"/>
              <a:cs typeface="Arial"/>
              <a:sym typeface="Arial"/>
            </a:endParaRPr>
          </a:p>
        </p:txBody>
      </p:sp>
      <p:sp>
        <p:nvSpPr>
          <p:cNvPr id="35" name="Google Shape;35;p6"/>
          <p:cNvSpPr txBox="1"/>
          <p:nvPr/>
        </p:nvSpPr>
        <p:spPr>
          <a:xfrm>
            <a:off x="457200" y="2788920"/>
            <a:ext cx="26517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I kept the app simple so the project could focus on the DevOps work around it.</a:t>
            </a:r>
            <a:endParaRPr b="0" i="0" sz="1400" u="none" cap="none" strike="noStrike">
              <a:solidFill>
                <a:schemeClr val="dk1"/>
              </a:solidFill>
              <a:latin typeface="Arial"/>
              <a:ea typeface="Arial"/>
              <a:cs typeface="Arial"/>
              <a:sym typeface="Arial"/>
            </a:endParaRPr>
          </a:p>
        </p:txBody>
      </p:sp>
      <p:pic>
        <p:nvPicPr>
          <p:cNvPr descr="Petal Shop running at localhost:3000" id="36" name="Google Shape;36;p6"/>
          <p:cNvPicPr preferRelativeResize="0"/>
          <p:nvPr/>
        </p:nvPicPr>
        <p:blipFill rotWithShape="1">
          <a:blip r:embed="rId3">
            <a:alphaModFix/>
          </a:blip>
          <a:srcRect b="0" l="0" r="0" t="0"/>
          <a:stretch/>
        </p:blipFill>
        <p:spPr>
          <a:xfrm>
            <a:off x="3383280" y="1143000"/>
            <a:ext cx="5303520" cy="3167380"/>
          </a:xfrm>
          <a:prstGeom prst="rect">
            <a:avLst/>
          </a:prstGeom>
          <a:noFill/>
          <a:ln>
            <a:noFill/>
          </a:ln>
        </p:spPr>
      </p:pic>
      <p:sp>
        <p:nvSpPr>
          <p:cNvPr id="37" name="Google Shape;37;p6"/>
          <p:cNvSpPr/>
          <p:nvPr/>
        </p:nvSpPr>
        <p:spPr>
          <a:xfrm>
            <a:off x="3383280" y="1143000"/>
            <a:ext cx="5303520" cy="3167380"/>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How it's built</a:t>
            </a:r>
            <a:endParaRPr sz="3000"/>
          </a:p>
        </p:txBody>
      </p:sp>
      <p:sp>
        <p:nvSpPr>
          <p:cNvPr id="45" name="Google Shape;45;p7"/>
          <p:cNvSpPr/>
          <p:nvPr/>
        </p:nvSpPr>
        <p:spPr>
          <a:xfrm>
            <a:off x="457200" y="1463040"/>
            <a:ext cx="2468880" cy="1920240"/>
          </a:xfrm>
          <a:prstGeom prst="rect">
            <a:avLst/>
          </a:prstGeom>
          <a:solidFill>
            <a:schemeClr val="lt2"/>
          </a:solidFill>
          <a:ln cap="flat" cmpd="sng" w="12700">
            <a:solidFill>
              <a:srgbClr val="F2C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txBox="1"/>
          <p:nvPr/>
        </p:nvSpPr>
        <p:spPr>
          <a:xfrm>
            <a:off x="685800" y="1691640"/>
            <a:ext cx="20116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Frontend</a:t>
            </a:r>
            <a:endParaRPr b="0" i="0" sz="2000" u="none" cap="none" strike="noStrike">
              <a:solidFill>
                <a:schemeClr val="dk1"/>
              </a:solidFill>
              <a:latin typeface="Arial"/>
              <a:ea typeface="Arial"/>
              <a:cs typeface="Arial"/>
              <a:sym typeface="Arial"/>
            </a:endParaRPr>
          </a:p>
        </p:txBody>
      </p:sp>
      <p:sp>
        <p:nvSpPr>
          <p:cNvPr id="47" name="Google Shape;47;p7"/>
          <p:cNvSpPr txBox="1"/>
          <p:nvPr/>
        </p:nvSpPr>
        <p:spPr>
          <a:xfrm>
            <a:off x="685800" y="224028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What the user sees</a:t>
            </a:r>
            <a:endParaRPr b="0" i="0" sz="1400" u="none" cap="none" strike="noStrike">
              <a:solidFill>
                <a:schemeClr val="dk1"/>
              </a:solidFill>
              <a:latin typeface="Arial"/>
              <a:ea typeface="Arial"/>
              <a:cs typeface="Arial"/>
              <a:sym typeface="Arial"/>
            </a:endParaRPr>
          </a:p>
        </p:txBody>
      </p:sp>
      <p:sp>
        <p:nvSpPr>
          <p:cNvPr id="48" name="Google Shape;48;p7"/>
          <p:cNvSpPr txBox="1"/>
          <p:nvPr/>
        </p:nvSpPr>
        <p:spPr>
          <a:xfrm>
            <a:off x="685800" y="27889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1" i="0" lang="en-US" sz="1400" u="none" cap="none" strike="noStrike">
                <a:solidFill>
                  <a:schemeClr val="accent1"/>
                </a:solidFill>
                <a:latin typeface="Arial"/>
                <a:ea typeface="Arial"/>
                <a:cs typeface="Arial"/>
                <a:sym typeface="Arial"/>
              </a:rPr>
              <a:t>React, served by Nginx</a:t>
            </a:r>
            <a:endParaRPr b="0" i="0" sz="1400" u="none" cap="none" strike="noStrike">
              <a:solidFill>
                <a:schemeClr val="dk1"/>
              </a:solidFill>
              <a:latin typeface="Arial"/>
              <a:ea typeface="Arial"/>
              <a:cs typeface="Arial"/>
              <a:sym typeface="Arial"/>
            </a:endParaRPr>
          </a:p>
        </p:txBody>
      </p:sp>
      <p:cxnSp>
        <p:nvCxnSpPr>
          <p:cNvPr id="49" name="Google Shape;49;p7"/>
          <p:cNvCxnSpPr/>
          <p:nvPr/>
        </p:nvCxnSpPr>
        <p:spPr>
          <a:xfrm>
            <a:off x="2971800" y="2423160"/>
            <a:ext cx="320040" cy="0"/>
          </a:xfrm>
          <a:prstGeom prst="straightConnector1">
            <a:avLst/>
          </a:prstGeom>
          <a:noFill/>
          <a:ln cap="flat" cmpd="sng" w="19050">
            <a:solidFill>
              <a:srgbClr val="888888"/>
            </a:solidFill>
            <a:prstDash val="solid"/>
            <a:round/>
            <a:headEnd len="sm" w="sm" type="none"/>
            <a:tailEnd len="med" w="med" type="triangle"/>
          </a:ln>
        </p:spPr>
      </p:cxnSp>
      <p:sp>
        <p:nvSpPr>
          <p:cNvPr id="50" name="Google Shape;50;p7"/>
          <p:cNvSpPr/>
          <p:nvPr/>
        </p:nvSpPr>
        <p:spPr>
          <a:xfrm>
            <a:off x="3337560" y="1463040"/>
            <a:ext cx="2468880" cy="1920240"/>
          </a:xfrm>
          <a:prstGeom prst="rect">
            <a:avLst/>
          </a:prstGeom>
          <a:solidFill>
            <a:schemeClr val="lt2"/>
          </a:solidFill>
          <a:ln cap="flat" cmpd="sng" w="12700">
            <a:solidFill>
              <a:srgbClr val="F2C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txBox="1"/>
          <p:nvPr/>
        </p:nvSpPr>
        <p:spPr>
          <a:xfrm>
            <a:off x="3566160" y="1691640"/>
            <a:ext cx="20116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Backend</a:t>
            </a:r>
            <a:endParaRPr b="0" i="0" sz="2000" u="none" cap="none" strike="noStrike">
              <a:solidFill>
                <a:schemeClr val="dk1"/>
              </a:solidFill>
              <a:latin typeface="Arial"/>
              <a:ea typeface="Arial"/>
              <a:cs typeface="Arial"/>
              <a:sym typeface="Arial"/>
            </a:endParaRPr>
          </a:p>
        </p:txBody>
      </p:sp>
      <p:sp>
        <p:nvSpPr>
          <p:cNvPr id="52" name="Google Shape;52;p7"/>
          <p:cNvSpPr txBox="1"/>
          <p:nvPr/>
        </p:nvSpPr>
        <p:spPr>
          <a:xfrm>
            <a:off x="3566160" y="224028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Handles the requests</a:t>
            </a:r>
            <a:endParaRPr b="0" i="0" sz="1400" u="none" cap="none" strike="noStrike">
              <a:solidFill>
                <a:schemeClr val="dk1"/>
              </a:solidFill>
              <a:latin typeface="Arial"/>
              <a:ea typeface="Arial"/>
              <a:cs typeface="Arial"/>
              <a:sym typeface="Arial"/>
            </a:endParaRPr>
          </a:p>
        </p:txBody>
      </p:sp>
      <p:sp>
        <p:nvSpPr>
          <p:cNvPr id="53" name="Google Shape;53;p7"/>
          <p:cNvSpPr txBox="1"/>
          <p:nvPr/>
        </p:nvSpPr>
        <p:spPr>
          <a:xfrm>
            <a:off x="3566160" y="27889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1" i="0" lang="en-US" sz="1400" u="none" cap="none" strike="noStrike">
                <a:solidFill>
                  <a:schemeClr val="accent1"/>
                </a:solidFill>
                <a:latin typeface="Arial"/>
                <a:ea typeface="Arial"/>
                <a:cs typeface="Arial"/>
                <a:sym typeface="Arial"/>
              </a:rPr>
              <a:t>Python + FastAPI</a:t>
            </a:r>
            <a:endParaRPr b="0" i="0" sz="1400" u="none" cap="none" strike="noStrike">
              <a:solidFill>
                <a:schemeClr val="dk1"/>
              </a:solidFill>
              <a:latin typeface="Arial"/>
              <a:ea typeface="Arial"/>
              <a:cs typeface="Arial"/>
              <a:sym typeface="Arial"/>
            </a:endParaRPr>
          </a:p>
        </p:txBody>
      </p:sp>
      <p:cxnSp>
        <p:nvCxnSpPr>
          <p:cNvPr id="54" name="Google Shape;54;p7"/>
          <p:cNvCxnSpPr/>
          <p:nvPr/>
        </p:nvCxnSpPr>
        <p:spPr>
          <a:xfrm>
            <a:off x="5852160" y="2423160"/>
            <a:ext cx="320040" cy="0"/>
          </a:xfrm>
          <a:prstGeom prst="straightConnector1">
            <a:avLst/>
          </a:prstGeom>
          <a:noFill/>
          <a:ln cap="flat" cmpd="sng" w="19050">
            <a:solidFill>
              <a:srgbClr val="888888"/>
            </a:solidFill>
            <a:prstDash val="solid"/>
            <a:round/>
            <a:headEnd len="sm" w="sm" type="none"/>
            <a:tailEnd len="med" w="med" type="triangle"/>
          </a:ln>
        </p:spPr>
      </p:cxnSp>
      <p:sp>
        <p:nvSpPr>
          <p:cNvPr id="55" name="Google Shape;55;p7"/>
          <p:cNvSpPr/>
          <p:nvPr/>
        </p:nvSpPr>
        <p:spPr>
          <a:xfrm>
            <a:off x="6217920" y="1463040"/>
            <a:ext cx="2468880" cy="1920240"/>
          </a:xfrm>
          <a:prstGeom prst="rect">
            <a:avLst/>
          </a:prstGeom>
          <a:solidFill>
            <a:schemeClr val="lt2"/>
          </a:solidFill>
          <a:ln cap="flat" cmpd="sng" w="12700">
            <a:solidFill>
              <a:srgbClr val="F2C4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txBox="1"/>
          <p:nvPr/>
        </p:nvSpPr>
        <p:spPr>
          <a:xfrm>
            <a:off x="6446520" y="1691640"/>
            <a:ext cx="20116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Database</a:t>
            </a:r>
            <a:endParaRPr b="0" i="0" sz="2000" u="none" cap="none" strike="noStrike">
              <a:solidFill>
                <a:schemeClr val="dk1"/>
              </a:solidFill>
              <a:latin typeface="Arial"/>
              <a:ea typeface="Arial"/>
              <a:cs typeface="Arial"/>
              <a:sym typeface="Arial"/>
            </a:endParaRPr>
          </a:p>
        </p:txBody>
      </p:sp>
      <p:sp>
        <p:nvSpPr>
          <p:cNvPr id="57" name="Google Shape;57;p7"/>
          <p:cNvSpPr txBox="1"/>
          <p:nvPr/>
        </p:nvSpPr>
        <p:spPr>
          <a:xfrm>
            <a:off x="6446520" y="224028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Stores the products</a:t>
            </a:r>
            <a:endParaRPr b="0" i="0" sz="1400" u="none" cap="none" strike="noStrike">
              <a:solidFill>
                <a:schemeClr val="dk1"/>
              </a:solidFill>
              <a:latin typeface="Arial"/>
              <a:ea typeface="Arial"/>
              <a:cs typeface="Arial"/>
              <a:sym typeface="Arial"/>
            </a:endParaRPr>
          </a:p>
        </p:txBody>
      </p:sp>
      <p:sp>
        <p:nvSpPr>
          <p:cNvPr id="58" name="Google Shape;58;p7"/>
          <p:cNvSpPr txBox="1"/>
          <p:nvPr/>
        </p:nvSpPr>
        <p:spPr>
          <a:xfrm>
            <a:off x="6446520" y="27889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1" i="0" lang="en-US" sz="1400" u="none" cap="none" strike="noStrike">
                <a:solidFill>
                  <a:schemeClr val="accent1"/>
                </a:solidFill>
                <a:latin typeface="Arial"/>
                <a:ea typeface="Arial"/>
                <a:cs typeface="Arial"/>
                <a:sym typeface="Arial"/>
              </a:rPr>
              <a:t>PostgreSQL</a:t>
            </a:r>
            <a:endParaRPr b="0" i="0" sz="1400" u="none" cap="none" strike="noStrike">
              <a:solidFill>
                <a:schemeClr val="dk1"/>
              </a:solidFill>
              <a:latin typeface="Arial"/>
              <a:ea typeface="Arial"/>
              <a:cs typeface="Arial"/>
              <a:sym typeface="Arial"/>
            </a:endParaRPr>
          </a:p>
        </p:txBody>
      </p:sp>
      <p:sp>
        <p:nvSpPr>
          <p:cNvPr id="59" name="Google Shape;59;p7"/>
          <p:cNvSpPr txBox="1"/>
          <p:nvPr/>
        </p:nvSpPr>
        <p:spPr>
          <a:xfrm>
            <a:off x="457200" y="379476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Each part runs in its own Docker container.</a:t>
            </a:r>
            <a:endParaRPr b="0" i="0" sz="1600" u="none" cap="none" strike="noStrike">
              <a:solidFill>
                <a:schemeClr val="dk1"/>
              </a:solidFill>
              <a:latin typeface="Arial"/>
              <a:ea typeface="Arial"/>
              <a:cs typeface="Arial"/>
              <a:sym typeface="Arial"/>
            </a:endParaRPr>
          </a:p>
        </p:txBody>
      </p:sp>
      <p:sp>
        <p:nvSpPr>
          <p:cNvPr id="60" name="Google Shape;60;p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8"/>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From code to a running app</a:t>
            </a:r>
            <a:endParaRPr sz="3000"/>
          </a:p>
        </p:txBody>
      </p:sp>
      <p:sp>
        <p:nvSpPr>
          <p:cNvPr id="67" name="Google Shape;67;p8"/>
          <p:cNvSpPr txBox="1"/>
          <p:nvPr/>
        </p:nvSpPr>
        <p:spPr>
          <a:xfrm>
            <a:off x="457200" y="1097280"/>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1</a:t>
            </a:r>
            <a:endParaRPr b="0" i="0" sz="1600" u="none" cap="none" strike="noStrike">
              <a:solidFill>
                <a:schemeClr val="dk1"/>
              </a:solidFill>
              <a:latin typeface="Arial"/>
              <a:ea typeface="Arial"/>
              <a:cs typeface="Arial"/>
              <a:sym typeface="Arial"/>
            </a:endParaRPr>
          </a:p>
        </p:txBody>
      </p:sp>
      <p:sp>
        <p:nvSpPr>
          <p:cNvPr id="68" name="Google Shape;68;p8"/>
          <p:cNvSpPr txBox="1"/>
          <p:nvPr/>
        </p:nvSpPr>
        <p:spPr>
          <a:xfrm>
            <a:off x="822960" y="1097280"/>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Test</a:t>
            </a:r>
            <a:endParaRPr b="0" i="0" sz="1600" u="none" cap="none" strike="noStrike">
              <a:solidFill>
                <a:schemeClr val="dk1"/>
              </a:solidFill>
              <a:latin typeface="Arial"/>
              <a:ea typeface="Arial"/>
              <a:cs typeface="Arial"/>
              <a:sym typeface="Arial"/>
            </a:endParaRPr>
          </a:p>
        </p:txBody>
      </p:sp>
      <p:sp>
        <p:nvSpPr>
          <p:cNvPr id="69" name="Google Shape;69;p8"/>
          <p:cNvSpPr txBox="1"/>
          <p:nvPr/>
        </p:nvSpPr>
        <p:spPr>
          <a:xfrm>
            <a:off x="2103120" y="109728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23 automatic tests</a:t>
            </a:r>
            <a:endParaRPr b="0" i="0" sz="1600" u="none" cap="none" strike="noStrike">
              <a:solidFill>
                <a:schemeClr val="dk1"/>
              </a:solidFill>
              <a:latin typeface="Arial"/>
              <a:ea typeface="Arial"/>
              <a:cs typeface="Arial"/>
              <a:sym typeface="Arial"/>
            </a:endParaRPr>
          </a:p>
        </p:txBody>
      </p:sp>
      <p:sp>
        <p:nvSpPr>
          <p:cNvPr id="70" name="Google Shape;70;p8"/>
          <p:cNvSpPr txBox="1"/>
          <p:nvPr/>
        </p:nvSpPr>
        <p:spPr>
          <a:xfrm>
            <a:off x="457200" y="1527048"/>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2</a:t>
            </a:r>
            <a:endParaRPr b="0" i="0" sz="1600" u="none" cap="none" strike="noStrike">
              <a:solidFill>
                <a:schemeClr val="dk1"/>
              </a:solidFill>
              <a:latin typeface="Arial"/>
              <a:ea typeface="Arial"/>
              <a:cs typeface="Arial"/>
              <a:sym typeface="Arial"/>
            </a:endParaRPr>
          </a:p>
        </p:txBody>
      </p:sp>
      <p:sp>
        <p:nvSpPr>
          <p:cNvPr id="71" name="Google Shape;71;p8"/>
          <p:cNvSpPr txBox="1"/>
          <p:nvPr/>
        </p:nvSpPr>
        <p:spPr>
          <a:xfrm>
            <a:off x="822960" y="152704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Package</a:t>
            </a:r>
            <a:endParaRPr b="0" i="0" sz="1600" u="none" cap="none" strike="noStrike">
              <a:solidFill>
                <a:schemeClr val="dk1"/>
              </a:solidFill>
              <a:latin typeface="Arial"/>
              <a:ea typeface="Arial"/>
              <a:cs typeface="Arial"/>
              <a:sym typeface="Arial"/>
            </a:endParaRPr>
          </a:p>
        </p:txBody>
      </p:sp>
      <p:sp>
        <p:nvSpPr>
          <p:cNvPr id="72" name="Google Shape;72;p8"/>
          <p:cNvSpPr txBox="1"/>
          <p:nvPr/>
        </p:nvSpPr>
        <p:spPr>
          <a:xfrm>
            <a:off x="2103120" y="1527048"/>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Docker images for frontend and backend</a:t>
            </a:r>
            <a:endParaRPr b="0" i="0" sz="1600" u="none" cap="none" strike="noStrike">
              <a:solidFill>
                <a:schemeClr val="dk1"/>
              </a:solidFill>
              <a:latin typeface="Arial"/>
              <a:ea typeface="Arial"/>
              <a:cs typeface="Arial"/>
              <a:sym typeface="Arial"/>
            </a:endParaRPr>
          </a:p>
        </p:txBody>
      </p:sp>
      <p:sp>
        <p:nvSpPr>
          <p:cNvPr id="73" name="Google Shape;73;p8"/>
          <p:cNvSpPr txBox="1"/>
          <p:nvPr/>
        </p:nvSpPr>
        <p:spPr>
          <a:xfrm>
            <a:off x="457200" y="1956816"/>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3</a:t>
            </a:r>
            <a:endParaRPr b="0" i="0" sz="1600" u="none" cap="none" strike="noStrike">
              <a:solidFill>
                <a:schemeClr val="dk1"/>
              </a:solidFill>
              <a:latin typeface="Arial"/>
              <a:ea typeface="Arial"/>
              <a:cs typeface="Arial"/>
              <a:sym typeface="Arial"/>
            </a:endParaRPr>
          </a:p>
        </p:txBody>
      </p:sp>
      <p:sp>
        <p:nvSpPr>
          <p:cNvPr id="74" name="Google Shape;74;p8"/>
          <p:cNvSpPr txBox="1"/>
          <p:nvPr/>
        </p:nvSpPr>
        <p:spPr>
          <a:xfrm>
            <a:off x="822960" y="1956816"/>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Scan</a:t>
            </a:r>
            <a:endParaRPr b="0" i="0" sz="1600" u="none" cap="none" strike="noStrike">
              <a:solidFill>
                <a:schemeClr val="dk1"/>
              </a:solidFill>
              <a:latin typeface="Arial"/>
              <a:ea typeface="Arial"/>
              <a:cs typeface="Arial"/>
              <a:sym typeface="Arial"/>
            </a:endParaRPr>
          </a:p>
        </p:txBody>
      </p:sp>
      <p:sp>
        <p:nvSpPr>
          <p:cNvPr id="75" name="Google Shape;75;p8"/>
          <p:cNvSpPr txBox="1"/>
          <p:nvPr/>
        </p:nvSpPr>
        <p:spPr>
          <a:xfrm>
            <a:off x="2103120" y="1956816"/>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Trivy checks the images for security issues</a:t>
            </a:r>
            <a:endParaRPr b="0" i="0" sz="1600" u="none" cap="none" strike="noStrike">
              <a:solidFill>
                <a:schemeClr val="dk1"/>
              </a:solidFill>
              <a:latin typeface="Arial"/>
              <a:ea typeface="Arial"/>
              <a:cs typeface="Arial"/>
              <a:sym typeface="Arial"/>
            </a:endParaRPr>
          </a:p>
        </p:txBody>
      </p:sp>
      <p:sp>
        <p:nvSpPr>
          <p:cNvPr id="76" name="Google Shape;76;p8"/>
          <p:cNvSpPr txBox="1"/>
          <p:nvPr/>
        </p:nvSpPr>
        <p:spPr>
          <a:xfrm>
            <a:off x="457200" y="2386584"/>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4</a:t>
            </a:r>
            <a:endParaRPr b="0" i="0" sz="1600" u="none" cap="none" strike="noStrike">
              <a:solidFill>
                <a:schemeClr val="dk1"/>
              </a:solidFill>
              <a:latin typeface="Arial"/>
              <a:ea typeface="Arial"/>
              <a:cs typeface="Arial"/>
              <a:sym typeface="Arial"/>
            </a:endParaRPr>
          </a:p>
        </p:txBody>
      </p:sp>
      <p:sp>
        <p:nvSpPr>
          <p:cNvPr id="77" name="Google Shape;77;p8"/>
          <p:cNvSpPr txBox="1"/>
          <p:nvPr/>
        </p:nvSpPr>
        <p:spPr>
          <a:xfrm>
            <a:off x="822960" y="2386584"/>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Publish</a:t>
            </a:r>
            <a:endParaRPr b="0" i="0" sz="1600" u="none" cap="none" strike="noStrike">
              <a:solidFill>
                <a:schemeClr val="dk1"/>
              </a:solidFill>
              <a:latin typeface="Arial"/>
              <a:ea typeface="Arial"/>
              <a:cs typeface="Arial"/>
              <a:sym typeface="Arial"/>
            </a:endParaRPr>
          </a:p>
        </p:txBody>
      </p:sp>
      <p:sp>
        <p:nvSpPr>
          <p:cNvPr id="78" name="Google Shape;78;p8"/>
          <p:cNvSpPr txBox="1"/>
          <p:nvPr/>
        </p:nvSpPr>
        <p:spPr>
          <a:xfrm>
            <a:off x="2103120" y="2386584"/>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Images saved in GitHub's container registry</a:t>
            </a:r>
            <a:endParaRPr b="0" i="0" sz="1600" u="none" cap="none" strike="noStrike">
              <a:solidFill>
                <a:schemeClr val="dk1"/>
              </a:solidFill>
              <a:latin typeface="Arial"/>
              <a:ea typeface="Arial"/>
              <a:cs typeface="Arial"/>
              <a:sym typeface="Arial"/>
            </a:endParaRPr>
          </a:p>
        </p:txBody>
      </p:sp>
      <p:sp>
        <p:nvSpPr>
          <p:cNvPr id="79" name="Google Shape;79;p8"/>
          <p:cNvSpPr txBox="1"/>
          <p:nvPr/>
        </p:nvSpPr>
        <p:spPr>
          <a:xfrm>
            <a:off x="457200" y="2816352"/>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5</a:t>
            </a:r>
            <a:endParaRPr b="0" i="0" sz="1600" u="none" cap="none" strike="noStrike">
              <a:solidFill>
                <a:schemeClr val="dk1"/>
              </a:solidFill>
              <a:latin typeface="Arial"/>
              <a:ea typeface="Arial"/>
              <a:cs typeface="Arial"/>
              <a:sym typeface="Arial"/>
            </a:endParaRPr>
          </a:p>
        </p:txBody>
      </p:sp>
      <p:sp>
        <p:nvSpPr>
          <p:cNvPr id="80" name="Google Shape;80;p8"/>
          <p:cNvSpPr txBox="1"/>
          <p:nvPr/>
        </p:nvSpPr>
        <p:spPr>
          <a:xfrm>
            <a:off x="822960" y="2816352"/>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Cloud</a:t>
            </a:r>
            <a:endParaRPr b="0" i="0" sz="1600" u="none" cap="none" strike="noStrike">
              <a:solidFill>
                <a:schemeClr val="dk1"/>
              </a:solidFill>
              <a:latin typeface="Arial"/>
              <a:ea typeface="Arial"/>
              <a:cs typeface="Arial"/>
              <a:sym typeface="Arial"/>
            </a:endParaRPr>
          </a:p>
        </p:txBody>
      </p:sp>
      <p:sp>
        <p:nvSpPr>
          <p:cNvPr id="81" name="Google Shape;81;p8"/>
          <p:cNvSpPr txBox="1"/>
          <p:nvPr/>
        </p:nvSpPr>
        <p:spPr>
          <a:xfrm>
            <a:off x="2103120" y="2816352"/>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AWS network and cluster created with Terraform</a:t>
            </a:r>
            <a:endParaRPr b="0" i="0" sz="1600" u="none" cap="none" strike="noStrike">
              <a:solidFill>
                <a:schemeClr val="dk1"/>
              </a:solidFill>
              <a:latin typeface="Arial"/>
              <a:ea typeface="Arial"/>
              <a:cs typeface="Arial"/>
              <a:sym typeface="Arial"/>
            </a:endParaRPr>
          </a:p>
        </p:txBody>
      </p:sp>
      <p:sp>
        <p:nvSpPr>
          <p:cNvPr id="82" name="Google Shape;82;p8"/>
          <p:cNvSpPr txBox="1"/>
          <p:nvPr/>
        </p:nvSpPr>
        <p:spPr>
          <a:xfrm>
            <a:off x="457200" y="3246120"/>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6</a:t>
            </a:r>
            <a:endParaRPr b="0" i="0" sz="1600" u="none" cap="none" strike="noStrike">
              <a:solidFill>
                <a:schemeClr val="dk1"/>
              </a:solidFill>
              <a:latin typeface="Arial"/>
              <a:ea typeface="Arial"/>
              <a:cs typeface="Arial"/>
              <a:sym typeface="Arial"/>
            </a:endParaRPr>
          </a:p>
        </p:txBody>
      </p:sp>
      <p:sp>
        <p:nvSpPr>
          <p:cNvPr id="83" name="Google Shape;83;p8"/>
          <p:cNvSpPr txBox="1"/>
          <p:nvPr/>
        </p:nvSpPr>
        <p:spPr>
          <a:xfrm>
            <a:off x="822960" y="3246120"/>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Deploy</a:t>
            </a:r>
            <a:endParaRPr b="0" i="0" sz="1600" u="none" cap="none" strike="noStrike">
              <a:solidFill>
                <a:schemeClr val="dk1"/>
              </a:solidFill>
              <a:latin typeface="Arial"/>
              <a:ea typeface="Arial"/>
              <a:cs typeface="Arial"/>
              <a:sym typeface="Arial"/>
            </a:endParaRPr>
          </a:p>
        </p:txBody>
      </p:sp>
      <p:sp>
        <p:nvSpPr>
          <p:cNvPr id="84" name="Google Shape;84;p8"/>
          <p:cNvSpPr txBox="1"/>
          <p:nvPr/>
        </p:nvSpPr>
        <p:spPr>
          <a:xfrm>
            <a:off x="2103120" y="324612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App installed on Kubernetes with Helm</a:t>
            </a:r>
            <a:endParaRPr b="0" i="0" sz="1600" u="none" cap="none" strike="noStrike">
              <a:solidFill>
                <a:schemeClr val="dk1"/>
              </a:solidFill>
              <a:latin typeface="Arial"/>
              <a:ea typeface="Arial"/>
              <a:cs typeface="Arial"/>
              <a:sym typeface="Arial"/>
            </a:endParaRPr>
          </a:p>
        </p:txBody>
      </p:sp>
      <p:sp>
        <p:nvSpPr>
          <p:cNvPr id="85" name="Google Shape;85;p8"/>
          <p:cNvSpPr txBox="1"/>
          <p:nvPr/>
        </p:nvSpPr>
        <p:spPr>
          <a:xfrm>
            <a:off x="457200" y="3675888"/>
            <a:ext cx="320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7</a:t>
            </a:r>
            <a:endParaRPr b="0" i="0" sz="1600" u="none" cap="none" strike="noStrike">
              <a:solidFill>
                <a:schemeClr val="dk1"/>
              </a:solidFill>
              <a:latin typeface="Arial"/>
              <a:ea typeface="Arial"/>
              <a:cs typeface="Arial"/>
              <a:sym typeface="Arial"/>
            </a:endParaRPr>
          </a:p>
        </p:txBody>
      </p:sp>
      <p:sp>
        <p:nvSpPr>
          <p:cNvPr id="86" name="Google Shape;86;p8"/>
          <p:cNvSpPr txBox="1"/>
          <p:nvPr/>
        </p:nvSpPr>
        <p:spPr>
          <a:xfrm>
            <a:off x="822960" y="3675888"/>
            <a:ext cx="1280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Watch</a:t>
            </a:r>
            <a:endParaRPr b="0" i="0" sz="1600" u="none" cap="none" strike="noStrike">
              <a:solidFill>
                <a:schemeClr val="dk1"/>
              </a:solidFill>
              <a:latin typeface="Arial"/>
              <a:ea typeface="Arial"/>
              <a:cs typeface="Arial"/>
              <a:sym typeface="Arial"/>
            </a:endParaRPr>
          </a:p>
        </p:txBody>
      </p:sp>
      <p:sp>
        <p:nvSpPr>
          <p:cNvPr id="87" name="Google Shape;87;p8"/>
          <p:cNvSpPr txBox="1"/>
          <p:nvPr/>
        </p:nvSpPr>
        <p:spPr>
          <a:xfrm>
            <a:off x="2103120" y="3675888"/>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Prometheus and Grafana show live numbers</a:t>
            </a:r>
            <a:endParaRPr b="0" i="0" sz="1600" u="none" cap="none" strike="noStrike">
              <a:solidFill>
                <a:schemeClr val="dk1"/>
              </a:solidFill>
              <a:latin typeface="Arial"/>
              <a:ea typeface="Arial"/>
              <a:cs typeface="Arial"/>
              <a:sym typeface="Arial"/>
            </a:endParaRPr>
          </a:p>
        </p:txBody>
      </p:sp>
      <p:sp>
        <p:nvSpPr>
          <p:cNvPr id="88" name="Google Shape;88;p8"/>
          <p:cNvSpPr/>
          <p:nvPr/>
        </p:nvSpPr>
        <p:spPr>
          <a:xfrm>
            <a:off x="6858000" y="1097280"/>
            <a:ext cx="1828800" cy="16459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txBox="1"/>
          <p:nvPr/>
        </p:nvSpPr>
        <p:spPr>
          <a:xfrm>
            <a:off x="6995160" y="1234440"/>
            <a:ext cx="15544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Steps 1-4 run automatically on every push (GitHub Actions).</a:t>
            </a:r>
            <a:endParaRPr b="0" i="0" sz="1400" u="none" cap="none" strike="noStrike">
              <a:solidFill>
                <a:schemeClr val="dk1"/>
              </a:solidFill>
              <a:latin typeface="Arial"/>
              <a:ea typeface="Arial"/>
              <a:cs typeface="Arial"/>
              <a:sym typeface="Arial"/>
            </a:endParaRPr>
          </a:p>
        </p:txBody>
      </p:sp>
      <p:sp>
        <p:nvSpPr>
          <p:cNvPr id="90" name="Google Shape;90;p8"/>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Testing</a:t>
            </a:r>
            <a:endParaRPr sz="3000"/>
          </a:p>
        </p:txBody>
      </p:sp>
      <p:pic>
        <p:nvPicPr>
          <p:cNvPr descr="Testing" id="97" name="Google Shape;97;p9"/>
          <p:cNvPicPr preferRelativeResize="0"/>
          <p:nvPr/>
        </p:nvPicPr>
        <p:blipFill rotWithShape="1">
          <a:blip r:embed="rId3">
            <a:alphaModFix/>
          </a:blip>
          <a:srcRect b="0" l="0" r="0" t="0"/>
          <a:stretch/>
        </p:blipFill>
        <p:spPr>
          <a:xfrm>
            <a:off x="457200" y="1143000"/>
            <a:ext cx="5120640" cy="2696870"/>
          </a:xfrm>
          <a:prstGeom prst="rect">
            <a:avLst/>
          </a:prstGeom>
          <a:noFill/>
          <a:ln>
            <a:noFill/>
          </a:ln>
        </p:spPr>
      </p:pic>
      <p:sp>
        <p:nvSpPr>
          <p:cNvPr id="98" name="Google Shape;98;p9"/>
          <p:cNvSpPr/>
          <p:nvPr/>
        </p:nvSpPr>
        <p:spPr>
          <a:xfrm>
            <a:off x="457200" y="1143000"/>
            <a:ext cx="5120640" cy="2696870"/>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nvSpPr>
        <p:spPr>
          <a:xfrm>
            <a:off x="5943600" y="1188720"/>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400"/>
              <a:buFont typeface="Arial"/>
              <a:buNone/>
            </a:pPr>
            <a:r>
              <a:rPr b="1" i="0" lang="en-US" sz="2400" u="none" cap="none" strike="noStrike">
                <a:solidFill>
                  <a:schemeClr val="accent1"/>
                </a:solidFill>
                <a:latin typeface="Arial"/>
                <a:ea typeface="Arial"/>
                <a:cs typeface="Arial"/>
                <a:sym typeface="Arial"/>
              </a:rPr>
              <a:t>23 passed</a:t>
            </a:r>
            <a:endParaRPr b="0" i="0" sz="2400" u="none" cap="none" strike="noStrike">
              <a:solidFill>
                <a:schemeClr val="dk1"/>
              </a:solidFill>
              <a:latin typeface="Arial"/>
              <a:ea typeface="Arial"/>
              <a:cs typeface="Arial"/>
              <a:sym typeface="Arial"/>
            </a:endParaRPr>
          </a:p>
        </p:txBody>
      </p:sp>
      <p:sp>
        <p:nvSpPr>
          <p:cNvPr id="100" name="Google Shape;100;p9"/>
          <p:cNvSpPr txBox="1"/>
          <p:nvPr/>
        </p:nvSpPr>
        <p:spPr>
          <a:xfrm>
            <a:off x="5943600" y="182880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23 tests, all passing.</a:t>
            </a:r>
            <a:endParaRPr b="0" i="0" sz="1600" u="none" cap="none" strike="noStrike">
              <a:solidFill>
                <a:schemeClr val="dk1"/>
              </a:solidFill>
              <a:latin typeface="Arial"/>
              <a:ea typeface="Arial"/>
              <a:cs typeface="Arial"/>
              <a:sym typeface="Arial"/>
            </a:endParaRPr>
          </a:p>
        </p:txBody>
      </p:sp>
      <p:sp>
        <p:nvSpPr>
          <p:cNvPr id="101" name="Google Shape;101;p9"/>
          <p:cNvSpPr txBox="1"/>
          <p:nvPr/>
        </p:nvSpPr>
        <p:spPr>
          <a:xfrm>
            <a:off x="5943600" y="2880360"/>
            <a:ext cx="2743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They run against a separate SQLite test database, never the real one.</a:t>
            </a:r>
            <a:endParaRPr b="0" i="0" sz="1400" u="none" cap="none" strike="noStrike">
              <a:solidFill>
                <a:schemeClr val="dk1"/>
              </a:solidFill>
              <a:latin typeface="Arial"/>
              <a:ea typeface="Arial"/>
              <a:cs typeface="Arial"/>
              <a:sym typeface="Arial"/>
            </a:endParaRPr>
          </a:p>
        </p:txBody>
      </p:sp>
      <p:sp>
        <p:nvSpPr>
          <p:cNvPr id="102" name="Google Shape;102;p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Running with Docker Compose</a:t>
            </a:r>
            <a:endParaRPr sz="3000"/>
          </a:p>
        </p:txBody>
      </p:sp>
      <p:pic>
        <p:nvPicPr>
          <p:cNvPr descr="Running with Docker Compose" id="109" name="Google Shape;109;p10"/>
          <p:cNvPicPr preferRelativeResize="0"/>
          <p:nvPr/>
        </p:nvPicPr>
        <p:blipFill rotWithShape="1">
          <a:blip r:embed="rId3">
            <a:alphaModFix/>
          </a:blip>
          <a:srcRect b="0" l="0" r="0" t="0"/>
          <a:stretch/>
        </p:blipFill>
        <p:spPr>
          <a:xfrm>
            <a:off x="457200" y="1143000"/>
            <a:ext cx="8229600" cy="2578608"/>
          </a:xfrm>
          <a:prstGeom prst="rect">
            <a:avLst/>
          </a:prstGeom>
          <a:noFill/>
          <a:ln>
            <a:noFill/>
          </a:ln>
        </p:spPr>
      </p:pic>
      <p:sp>
        <p:nvSpPr>
          <p:cNvPr id="110" name="Google Shape;110;p10"/>
          <p:cNvSpPr/>
          <p:nvPr/>
        </p:nvSpPr>
        <p:spPr>
          <a:xfrm>
            <a:off x="457200" y="1143000"/>
            <a:ext cx="8229600" cy="2578608"/>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0"/>
          <p:cNvSpPr txBox="1"/>
          <p:nvPr/>
        </p:nvSpPr>
        <p:spPr>
          <a:xfrm>
            <a:off x="457200" y="3904488"/>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One command starts the database, backend and frontend together.</a:t>
            </a:r>
            <a:endParaRPr b="0" i="0" sz="1600" u="none" cap="none" strike="noStrike">
              <a:solidFill>
                <a:schemeClr val="dk1"/>
              </a:solidFill>
              <a:latin typeface="Arial"/>
              <a:ea typeface="Arial"/>
              <a:cs typeface="Arial"/>
              <a:sym typeface="Arial"/>
            </a:endParaRPr>
          </a:p>
        </p:txBody>
      </p:sp>
      <p:sp>
        <p:nvSpPr>
          <p:cNvPr id="112" name="Google Shape;112;p1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CI/CD pipeline</a:t>
            </a:r>
            <a:endParaRPr sz="3000"/>
          </a:p>
        </p:txBody>
      </p:sp>
      <p:pic>
        <p:nvPicPr>
          <p:cNvPr descr="CI/CD pipeline" id="119" name="Google Shape;119;p11"/>
          <p:cNvPicPr preferRelativeResize="0"/>
          <p:nvPr/>
        </p:nvPicPr>
        <p:blipFill rotWithShape="1">
          <a:blip r:embed="rId3">
            <a:alphaModFix/>
          </a:blip>
          <a:srcRect b="0" l="0" r="0" t="0"/>
          <a:stretch/>
        </p:blipFill>
        <p:spPr>
          <a:xfrm>
            <a:off x="1284270" y="1143000"/>
            <a:ext cx="6575461" cy="2926080"/>
          </a:xfrm>
          <a:prstGeom prst="rect">
            <a:avLst/>
          </a:prstGeom>
          <a:noFill/>
          <a:ln>
            <a:noFill/>
          </a:ln>
        </p:spPr>
      </p:pic>
      <p:sp>
        <p:nvSpPr>
          <p:cNvPr id="120" name="Google Shape;120;p11"/>
          <p:cNvSpPr/>
          <p:nvPr/>
        </p:nvSpPr>
        <p:spPr>
          <a:xfrm>
            <a:off x="1284270" y="1143000"/>
            <a:ext cx="6575461" cy="2926080"/>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txBox="1"/>
          <p:nvPr/>
        </p:nvSpPr>
        <p:spPr>
          <a:xfrm>
            <a:off x="457200" y="425196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Every push to main runs two jobs in GitHub Actions: test, then build-push. Both passed.</a:t>
            </a:r>
            <a:endParaRPr b="0" i="0" sz="1600" u="none" cap="none" strike="noStrike">
              <a:solidFill>
                <a:schemeClr val="dk1"/>
              </a:solidFill>
              <a:latin typeface="Arial"/>
              <a:ea typeface="Arial"/>
              <a:cs typeface="Arial"/>
              <a:sym typeface="Arial"/>
            </a:endParaRPr>
          </a:p>
        </p:txBody>
      </p:sp>
      <p:sp>
        <p:nvSpPr>
          <p:cNvPr id="122" name="Google Shape;122;p11"/>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2"/>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Security scan with Trivy</a:t>
            </a:r>
            <a:endParaRPr sz="3000"/>
          </a:p>
        </p:txBody>
      </p:sp>
      <p:sp>
        <p:nvSpPr>
          <p:cNvPr id="129" name="Google Shape;129;p12"/>
          <p:cNvSpPr txBox="1"/>
          <p:nvPr/>
        </p:nvSpPr>
        <p:spPr>
          <a:xfrm>
            <a:off x="457200" y="1097280"/>
            <a:ext cx="3977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1" i="0" lang="en-US" sz="1400" u="none" cap="none" strike="noStrike">
                <a:solidFill>
                  <a:schemeClr val="accent1"/>
                </a:solidFill>
                <a:latin typeface="Arial"/>
                <a:ea typeface="Arial"/>
                <a:cs typeface="Arial"/>
                <a:sym typeface="Arial"/>
              </a:rPr>
              <a:t>Before: scan failed, pipeline stopped</a:t>
            </a:r>
            <a:endParaRPr b="0" i="0" sz="1400" u="none" cap="none" strike="noStrike">
              <a:solidFill>
                <a:schemeClr val="dk1"/>
              </a:solidFill>
              <a:latin typeface="Arial"/>
              <a:ea typeface="Arial"/>
              <a:cs typeface="Arial"/>
              <a:sym typeface="Arial"/>
            </a:endParaRPr>
          </a:p>
        </p:txBody>
      </p:sp>
      <p:pic>
        <p:nvPicPr>
          <p:cNvPr descr="Before: scan failed, pipeline stopped" id="130" name="Google Shape;130;p12"/>
          <p:cNvPicPr preferRelativeResize="0"/>
          <p:nvPr/>
        </p:nvPicPr>
        <p:blipFill rotWithShape="1">
          <a:blip r:embed="rId3">
            <a:alphaModFix/>
          </a:blip>
          <a:srcRect b="0" l="0" r="0" t="0"/>
          <a:stretch/>
        </p:blipFill>
        <p:spPr>
          <a:xfrm>
            <a:off x="457200" y="1463040"/>
            <a:ext cx="3977640" cy="2362276"/>
          </a:xfrm>
          <a:prstGeom prst="rect">
            <a:avLst/>
          </a:prstGeom>
          <a:noFill/>
          <a:ln>
            <a:noFill/>
          </a:ln>
        </p:spPr>
      </p:pic>
      <p:sp>
        <p:nvSpPr>
          <p:cNvPr id="131" name="Google Shape;131;p12"/>
          <p:cNvSpPr/>
          <p:nvPr/>
        </p:nvSpPr>
        <p:spPr>
          <a:xfrm>
            <a:off x="457200" y="1463040"/>
            <a:ext cx="3977640" cy="2362276"/>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2"/>
          <p:cNvSpPr txBox="1"/>
          <p:nvPr/>
        </p:nvSpPr>
        <p:spPr>
          <a:xfrm>
            <a:off x="4709160" y="1097280"/>
            <a:ext cx="3977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After: both scans pass</a:t>
            </a:r>
            <a:endParaRPr b="0" i="0" sz="1400" u="none" cap="none" strike="noStrike">
              <a:solidFill>
                <a:schemeClr val="dk1"/>
              </a:solidFill>
              <a:latin typeface="Arial"/>
              <a:ea typeface="Arial"/>
              <a:cs typeface="Arial"/>
              <a:sym typeface="Arial"/>
            </a:endParaRPr>
          </a:p>
        </p:txBody>
      </p:sp>
      <p:pic>
        <p:nvPicPr>
          <p:cNvPr descr="After: both scans pass" id="133" name="Google Shape;133;p12"/>
          <p:cNvPicPr preferRelativeResize="0"/>
          <p:nvPr/>
        </p:nvPicPr>
        <p:blipFill rotWithShape="1">
          <a:blip r:embed="rId4">
            <a:alphaModFix/>
          </a:blip>
          <a:srcRect b="0" l="0" r="0" t="0"/>
          <a:stretch/>
        </p:blipFill>
        <p:spPr>
          <a:xfrm>
            <a:off x="4709160" y="1463040"/>
            <a:ext cx="3977640" cy="2174443"/>
          </a:xfrm>
          <a:prstGeom prst="rect">
            <a:avLst/>
          </a:prstGeom>
          <a:noFill/>
          <a:ln>
            <a:noFill/>
          </a:ln>
        </p:spPr>
      </p:pic>
      <p:sp>
        <p:nvSpPr>
          <p:cNvPr id="134" name="Google Shape;134;p12"/>
          <p:cNvSpPr/>
          <p:nvPr/>
        </p:nvSpPr>
        <p:spPr>
          <a:xfrm>
            <a:off x="4709160" y="1463040"/>
            <a:ext cx="3977640" cy="2174443"/>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2"/>
          <p:cNvSpPr txBox="1"/>
          <p:nvPr/>
        </p:nvSpPr>
        <p:spPr>
          <a:xfrm>
            <a:off x="457200" y="416052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 updated the old base images, and both scans now pass.</a:t>
            </a:r>
            <a:endParaRPr b="0" i="0" sz="1600" u="none" cap="none" strike="noStrike">
              <a:solidFill>
                <a:schemeClr val="dk1"/>
              </a:solidFill>
              <a:latin typeface="Arial"/>
              <a:ea typeface="Arial"/>
              <a:cs typeface="Arial"/>
              <a:sym typeface="Arial"/>
            </a:endParaRPr>
          </a:p>
        </p:txBody>
      </p:sp>
      <p:sp>
        <p:nvSpPr>
          <p:cNvPr id="136" name="Google Shape;136;p12"/>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3"/>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Images in GitHub's registry</a:t>
            </a:r>
            <a:endParaRPr sz="3000"/>
          </a:p>
        </p:txBody>
      </p:sp>
      <p:pic>
        <p:nvPicPr>
          <p:cNvPr descr="Images in GitHub's registry" id="143" name="Google Shape;143;p13"/>
          <p:cNvPicPr preferRelativeResize="0"/>
          <p:nvPr/>
        </p:nvPicPr>
        <p:blipFill rotWithShape="1">
          <a:blip r:embed="rId3">
            <a:alphaModFix/>
          </a:blip>
          <a:srcRect b="0" l="0" r="0" t="0"/>
          <a:stretch/>
        </p:blipFill>
        <p:spPr>
          <a:xfrm>
            <a:off x="457200" y="1143000"/>
            <a:ext cx="5120640" cy="3061005"/>
          </a:xfrm>
          <a:prstGeom prst="rect">
            <a:avLst/>
          </a:prstGeom>
          <a:noFill/>
          <a:ln>
            <a:noFill/>
          </a:ln>
        </p:spPr>
      </p:pic>
      <p:sp>
        <p:nvSpPr>
          <p:cNvPr id="144" name="Google Shape;144;p13"/>
          <p:cNvSpPr/>
          <p:nvPr/>
        </p:nvSpPr>
        <p:spPr>
          <a:xfrm>
            <a:off x="457200" y="1143000"/>
            <a:ext cx="5120640" cy="3061005"/>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txBox="1"/>
          <p:nvPr/>
        </p:nvSpPr>
        <p:spPr>
          <a:xfrm>
            <a:off x="5943600" y="118872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Both images are saved in GitHub's container registry (GHCR).</a:t>
            </a:r>
            <a:endParaRPr b="0" i="0" sz="1600" u="none" cap="none" strike="noStrike">
              <a:solidFill>
                <a:schemeClr val="dk1"/>
              </a:solidFill>
              <a:latin typeface="Arial"/>
              <a:ea typeface="Arial"/>
              <a:cs typeface="Arial"/>
              <a:sym typeface="Arial"/>
            </a:endParaRPr>
          </a:p>
        </p:txBody>
      </p:sp>
      <p:sp>
        <p:nvSpPr>
          <p:cNvPr id="146" name="Google Shape;146;p13"/>
          <p:cNvSpPr txBox="1"/>
          <p:nvPr/>
        </p:nvSpPr>
        <p:spPr>
          <a:xfrm>
            <a:off x="5943600" y="2240280"/>
            <a:ext cx="2743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Each image is tagged with the commit ID, not 'latest', so I always know which code it came from.</a:t>
            </a:r>
            <a:endParaRPr b="0" i="0" sz="1400" u="none" cap="none" strike="noStrike">
              <a:solidFill>
                <a:schemeClr val="dk1"/>
              </a:solidFill>
              <a:latin typeface="Arial"/>
              <a:ea typeface="Arial"/>
              <a:cs typeface="Arial"/>
              <a:sym typeface="Arial"/>
            </a:endParaRPr>
          </a:p>
        </p:txBody>
      </p:sp>
      <p:sp>
        <p:nvSpPr>
          <p:cNvPr id="147" name="Google Shape;147;p13"/>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AWS with Terraform</a:t>
            </a:r>
            <a:endParaRPr sz="3000"/>
          </a:p>
        </p:txBody>
      </p:sp>
      <p:pic>
        <p:nvPicPr>
          <p:cNvPr descr="AWS with Terraform" id="154" name="Google Shape;154;p14"/>
          <p:cNvPicPr preferRelativeResize="0"/>
          <p:nvPr/>
        </p:nvPicPr>
        <p:blipFill rotWithShape="1">
          <a:blip r:embed="rId3">
            <a:alphaModFix/>
          </a:blip>
          <a:srcRect b="0" l="0" r="0" t="0"/>
          <a:stretch/>
        </p:blipFill>
        <p:spPr>
          <a:xfrm>
            <a:off x="457200" y="1143000"/>
            <a:ext cx="4723461" cy="3429000"/>
          </a:xfrm>
          <a:prstGeom prst="rect">
            <a:avLst/>
          </a:prstGeom>
          <a:noFill/>
          <a:ln>
            <a:noFill/>
          </a:ln>
        </p:spPr>
      </p:pic>
      <p:sp>
        <p:nvSpPr>
          <p:cNvPr id="155" name="Google Shape;155;p14"/>
          <p:cNvSpPr/>
          <p:nvPr/>
        </p:nvSpPr>
        <p:spPr>
          <a:xfrm>
            <a:off x="457200" y="1143000"/>
            <a:ext cx="4723461" cy="3429000"/>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txBox="1"/>
          <p:nvPr/>
        </p:nvSpPr>
        <p:spPr>
          <a:xfrm>
            <a:off x="5546421" y="1188720"/>
            <a:ext cx="3140379"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Terraform creates the AWS setup from code.</a:t>
            </a:r>
            <a:endParaRPr b="0" i="0" sz="1600" u="none" cap="none" strike="noStrike">
              <a:solidFill>
                <a:schemeClr val="dk1"/>
              </a:solidFill>
              <a:latin typeface="Arial"/>
              <a:ea typeface="Arial"/>
              <a:cs typeface="Arial"/>
              <a:sym typeface="Arial"/>
            </a:endParaRPr>
          </a:p>
        </p:txBody>
      </p:sp>
      <p:sp>
        <p:nvSpPr>
          <p:cNvPr id="157" name="Google Shape;157;p14"/>
          <p:cNvSpPr txBox="1"/>
          <p:nvPr/>
        </p:nvSpPr>
        <p:spPr>
          <a:xfrm>
            <a:off x="5546421" y="2240280"/>
            <a:ext cx="314037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A VPC, 2 subnets and an EKS cluster in Mumbai (ap-south-1).</a:t>
            </a:r>
            <a:endParaRPr b="0" i="0" sz="1400" u="none" cap="none" strike="noStrike">
              <a:solidFill>
                <a:schemeClr val="dk1"/>
              </a:solidFill>
              <a:latin typeface="Arial"/>
              <a:ea typeface="Arial"/>
              <a:cs typeface="Arial"/>
              <a:sym typeface="Arial"/>
            </a:endParaRPr>
          </a:p>
        </p:txBody>
      </p:sp>
      <p:sp>
        <p:nvSpPr>
          <p:cNvPr id="158" name="Google Shape;158;p14"/>
          <p:cNvSpPr txBox="1"/>
          <p:nvPr/>
        </p:nvSpPr>
        <p:spPr>
          <a:xfrm>
            <a:off x="5546421" y="3063240"/>
            <a:ext cx="3140379"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Steps: terraform init, plan, apply.</a:t>
            </a:r>
            <a:endParaRPr b="0" i="0" sz="1400" u="none" cap="none" strike="noStrike">
              <a:solidFill>
                <a:schemeClr val="dk1"/>
              </a:solidFill>
              <a:latin typeface="Arial"/>
              <a:ea typeface="Arial"/>
              <a:cs typeface="Arial"/>
              <a:sym typeface="Arial"/>
            </a:endParaRPr>
          </a:p>
        </p:txBody>
      </p:sp>
      <p:sp>
        <p:nvSpPr>
          <p:cNvPr id="159" name="Google Shape;159;p14"/>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Created on AWS, then removed</a:t>
            </a:r>
            <a:endParaRPr sz="3000"/>
          </a:p>
        </p:txBody>
      </p:sp>
      <p:sp>
        <p:nvSpPr>
          <p:cNvPr id="166" name="Google Shape;166;p15"/>
          <p:cNvSpPr txBox="1"/>
          <p:nvPr/>
        </p:nvSpPr>
        <p:spPr>
          <a:xfrm>
            <a:off x="457200" y="1097280"/>
            <a:ext cx="3977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The EKS cluster, Active in the AWS console</a:t>
            </a:r>
            <a:endParaRPr b="0" i="0" sz="1400" u="none" cap="none" strike="noStrike">
              <a:solidFill>
                <a:schemeClr val="dk1"/>
              </a:solidFill>
              <a:latin typeface="Arial"/>
              <a:ea typeface="Arial"/>
              <a:cs typeface="Arial"/>
              <a:sym typeface="Arial"/>
            </a:endParaRPr>
          </a:p>
        </p:txBody>
      </p:sp>
      <p:pic>
        <p:nvPicPr>
          <p:cNvPr descr="The EKS cluster, Active in the AWS console" id="167" name="Google Shape;167;p15"/>
          <p:cNvPicPr preferRelativeResize="0"/>
          <p:nvPr/>
        </p:nvPicPr>
        <p:blipFill rotWithShape="1">
          <a:blip r:embed="rId3">
            <a:alphaModFix/>
          </a:blip>
          <a:srcRect b="0" l="0" r="0" t="0"/>
          <a:stretch/>
        </p:blipFill>
        <p:spPr>
          <a:xfrm>
            <a:off x="457200" y="1463040"/>
            <a:ext cx="3977640" cy="1909267"/>
          </a:xfrm>
          <a:prstGeom prst="rect">
            <a:avLst/>
          </a:prstGeom>
          <a:noFill/>
          <a:ln>
            <a:noFill/>
          </a:ln>
        </p:spPr>
      </p:pic>
      <p:sp>
        <p:nvSpPr>
          <p:cNvPr id="168" name="Google Shape;168;p15"/>
          <p:cNvSpPr/>
          <p:nvPr/>
        </p:nvSpPr>
        <p:spPr>
          <a:xfrm>
            <a:off x="457200" y="1463040"/>
            <a:ext cx="3977640" cy="1909267"/>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txBox="1"/>
          <p:nvPr/>
        </p:nvSpPr>
        <p:spPr>
          <a:xfrm>
            <a:off x="4709160" y="1097280"/>
            <a:ext cx="3977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terraform destroy: 15 resources removed</a:t>
            </a:r>
            <a:endParaRPr b="0" i="0" sz="1400" u="none" cap="none" strike="noStrike">
              <a:solidFill>
                <a:schemeClr val="dk1"/>
              </a:solidFill>
              <a:latin typeface="Arial"/>
              <a:ea typeface="Arial"/>
              <a:cs typeface="Arial"/>
              <a:sym typeface="Arial"/>
            </a:endParaRPr>
          </a:p>
        </p:txBody>
      </p:sp>
      <p:pic>
        <p:nvPicPr>
          <p:cNvPr descr="terraform destroy: 15 resources removed" id="170" name="Google Shape;170;p15"/>
          <p:cNvPicPr preferRelativeResize="0"/>
          <p:nvPr/>
        </p:nvPicPr>
        <p:blipFill rotWithShape="1">
          <a:blip r:embed="rId4">
            <a:alphaModFix/>
          </a:blip>
          <a:srcRect b="0" l="0" r="0" t="0"/>
          <a:stretch/>
        </p:blipFill>
        <p:spPr>
          <a:xfrm>
            <a:off x="4709160" y="1463040"/>
            <a:ext cx="3977640" cy="2368011"/>
          </a:xfrm>
          <a:prstGeom prst="rect">
            <a:avLst/>
          </a:prstGeom>
          <a:noFill/>
          <a:ln>
            <a:noFill/>
          </a:ln>
        </p:spPr>
      </p:pic>
      <p:sp>
        <p:nvSpPr>
          <p:cNvPr id="171" name="Google Shape;171;p15"/>
          <p:cNvSpPr/>
          <p:nvPr/>
        </p:nvSpPr>
        <p:spPr>
          <a:xfrm>
            <a:off x="4709160" y="1463040"/>
            <a:ext cx="3977640" cy="2368011"/>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txBox="1"/>
          <p:nvPr/>
        </p:nvSpPr>
        <p:spPr>
          <a:xfrm>
            <a:off x="457200" y="416052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 checked it in the AWS console, then destroyed it to avoid costs.</a:t>
            </a:r>
            <a:endParaRPr b="0" i="0" sz="1600" u="none" cap="none" strike="noStrike">
              <a:solidFill>
                <a:schemeClr val="dk1"/>
              </a:solidFill>
              <a:latin typeface="Arial"/>
              <a:ea typeface="Arial"/>
              <a:cs typeface="Arial"/>
              <a:sym typeface="Arial"/>
            </a:endParaRPr>
          </a:p>
        </p:txBody>
      </p:sp>
      <p:sp>
        <p:nvSpPr>
          <p:cNvPr id="173" name="Google Shape;173;p15"/>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Deploying with Helm</a:t>
            </a:r>
            <a:endParaRPr sz="3000"/>
          </a:p>
        </p:txBody>
      </p:sp>
      <p:pic>
        <p:nvPicPr>
          <p:cNvPr descr="Deploying with Helm" id="180" name="Google Shape;180;p16"/>
          <p:cNvPicPr preferRelativeResize="0"/>
          <p:nvPr/>
        </p:nvPicPr>
        <p:blipFill rotWithShape="1">
          <a:blip r:embed="rId3">
            <a:alphaModFix/>
          </a:blip>
          <a:srcRect b="0" l="0" r="0" t="0"/>
          <a:stretch/>
        </p:blipFill>
        <p:spPr>
          <a:xfrm>
            <a:off x="457200" y="1143000"/>
            <a:ext cx="8229600" cy="1997964"/>
          </a:xfrm>
          <a:prstGeom prst="rect">
            <a:avLst/>
          </a:prstGeom>
          <a:noFill/>
          <a:ln>
            <a:noFill/>
          </a:ln>
        </p:spPr>
      </p:pic>
      <p:sp>
        <p:nvSpPr>
          <p:cNvPr id="181" name="Google Shape;181;p16"/>
          <p:cNvSpPr/>
          <p:nvPr/>
        </p:nvSpPr>
        <p:spPr>
          <a:xfrm>
            <a:off x="457200" y="1143000"/>
            <a:ext cx="8229600" cy="1997964"/>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txBox="1"/>
          <p:nvPr/>
        </p:nvSpPr>
        <p:spPr>
          <a:xfrm>
            <a:off x="457200" y="3323844"/>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One command installs the whole app on Kubernetes: helm upgrade --install.</a:t>
            </a:r>
            <a:endParaRPr b="0" i="0" sz="1600" u="none" cap="none" strike="noStrike">
              <a:solidFill>
                <a:schemeClr val="dk1"/>
              </a:solidFill>
              <a:latin typeface="Arial"/>
              <a:ea typeface="Arial"/>
              <a:cs typeface="Arial"/>
              <a:sym typeface="Arial"/>
            </a:endParaRPr>
          </a:p>
        </p:txBody>
      </p:sp>
      <p:sp>
        <p:nvSpPr>
          <p:cNvPr id="183" name="Google Shape;183;p16"/>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7"/>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Running on Kubernetes</a:t>
            </a:r>
            <a:endParaRPr sz="3000"/>
          </a:p>
        </p:txBody>
      </p:sp>
      <p:pic>
        <p:nvPicPr>
          <p:cNvPr descr="Running on Kubernetes" id="190" name="Google Shape;190;p17"/>
          <p:cNvPicPr preferRelativeResize="0"/>
          <p:nvPr/>
        </p:nvPicPr>
        <p:blipFill rotWithShape="1">
          <a:blip r:embed="rId3">
            <a:alphaModFix/>
          </a:blip>
          <a:srcRect b="0" l="0" r="0" t="0"/>
          <a:stretch/>
        </p:blipFill>
        <p:spPr>
          <a:xfrm>
            <a:off x="457200" y="1143000"/>
            <a:ext cx="8229600" cy="2569464"/>
          </a:xfrm>
          <a:prstGeom prst="rect">
            <a:avLst/>
          </a:prstGeom>
          <a:noFill/>
          <a:ln>
            <a:noFill/>
          </a:ln>
        </p:spPr>
      </p:pic>
      <p:sp>
        <p:nvSpPr>
          <p:cNvPr id="191" name="Google Shape;191;p17"/>
          <p:cNvSpPr/>
          <p:nvPr/>
        </p:nvSpPr>
        <p:spPr>
          <a:xfrm>
            <a:off x="457200" y="1143000"/>
            <a:ext cx="8229600" cy="2569464"/>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7"/>
          <p:cNvSpPr txBox="1"/>
          <p:nvPr/>
        </p:nvSpPr>
        <p:spPr>
          <a:xfrm>
            <a:off x="457200" y="3895344"/>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 pods running: 2 backend, 2 frontend and 1 database.</a:t>
            </a:r>
            <a:endParaRPr b="0" i="0" sz="1600" u="none" cap="none" strike="noStrike">
              <a:solidFill>
                <a:schemeClr val="dk1"/>
              </a:solidFill>
              <a:latin typeface="Arial"/>
              <a:ea typeface="Arial"/>
              <a:cs typeface="Arial"/>
              <a:sym typeface="Arial"/>
            </a:endParaRPr>
          </a:p>
        </p:txBody>
      </p:sp>
      <p:sp>
        <p:nvSpPr>
          <p:cNvPr id="193" name="Google Shape;193;p17"/>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Opening the app</a:t>
            </a:r>
            <a:endParaRPr sz="3000"/>
          </a:p>
        </p:txBody>
      </p:sp>
      <p:pic>
        <p:nvPicPr>
          <p:cNvPr descr="Opening the app" id="200" name="Google Shape;200;p18"/>
          <p:cNvPicPr preferRelativeResize="0"/>
          <p:nvPr/>
        </p:nvPicPr>
        <p:blipFill rotWithShape="1">
          <a:blip r:embed="rId3">
            <a:alphaModFix/>
          </a:blip>
          <a:srcRect b="0" l="0" r="0" t="0"/>
          <a:stretch/>
        </p:blipFill>
        <p:spPr>
          <a:xfrm>
            <a:off x="457200" y="1143000"/>
            <a:ext cx="5120640" cy="3043936"/>
          </a:xfrm>
          <a:prstGeom prst="rect">
            <a:avLst/>
          </a:prstGeom>
          <a:noFill/>
          <a:ln>
            <a:noFill/>
          </a:ln>
        </p:spPr>
      </p:pic>
      <p:sp>
        <p:nvSpPr>
          <p:cNvPr id="201" name="Google Shape;201;p18"/>
          <p:cNvSpPr/>
          <p:nvPr/>
        </p:nvSpPr>
        <p:spPr>
          <a:xfrm>
            <a:off x="457200" y="1143000"/>
            <a:ext cx="5120640" cy="3043936"/>
          </a:xfrm>
          <a:prstGeom prst="rect">
            <a:avLst/>
          </a:prstGeom>
          <a:solidFill>
            <a:schemeClr val="lt1">
              <a:alpha val="0"/>
            </a:schemeClr>
          </a:solidFill>
          <a:ln cap="flat" cmpd="sng" w="9525">
            <a:solidFill>
              <a:srgbClr val="D0D0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8"/>
          <p:cNvSpPr txBox="1"/>
          <p:nvPr/>
        </p:nvSpPr>
        <p:spPr>
          <a:xfrm>
            <a:off x="5943600" y="1188720"/>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400"/>
              <a:buFont typeface="Arial"/>
              <a:buNone/>
            </a:pPr>
            <a:r>
              <a:rPr b="1" i="0" lang="en-US" sz="2400" u="none" cap="none" strike="noStrike">
                <a:solidFill>
                  <a:schemeClr val="accent1"/>
                </a:solidFill>
                <a:latin typeface="Arial"/>
                <a:ea typeface="Arial"/>
                <a:cs typeface="Arial"/>
                <a:sym typeface="Arial"/>
              </a:rPr>
              <a:t>petal.local</a:t>
            </a:r>
            <a:endParaRPr b="0" i="0" sz="2400" u="none" cap="none" strike="noStrike">
              <a:solidFill>
                <a:schemeClr val="dk1"/>
              </a:solidFill>
              <a:latin typeface="Arial"/>
              <a:ea typeface="Arial"/>
              <a:cs typeface="Arial"/>
              <a:sym typeface="Arial"/>
            </a:endParaRPr>
          </a:p>
        </p:txBody>
      </p:sp>
      <p:sp>
        <p:nvSpPr>
          <p:cNvPr id="203" name="Google Shape;203;p18"/>
          <p:cNvSpPr txBox="1"/>
          <p:nvPr/>
        </p:nvSpPr>
        <p:spPr>
          <a:xfrm>
            <a:off x="5943600" y="182880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same shop, now served by Kubernetes.</a:t>
            </a:r>
            <a:endParaRPr b="0" i="0" sz="1600" u="none" cap="none" strike="noStrike">
              <a:solidFill>
                <a:schemeClr val="dk1"/>
              </a:solidFill>
              <a:latin typeface="Arial"/>
              <a:ea typeface="Arial"/>
              <a:cs typeface="Arial"/>
              <a:sym typeface="Arial"/>
            </a:endParaRPr>
          </a:p>
        </p:txBody>
      </p:sp>
      <p:sp>
        <p:nvSpPr>
          <p:cNvPr id="204" name="Google Shape;204;p18"/>
          <p:cNvSpPr txBox="1"/>
          <p:nvPr/>
        </p:nvSpPr>
        <p:spPr>
          <a:xfrm>
            <a:off x="5943600" y="2880360"/>
            <a:ext cx="2743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An Ingress sends the page to the frontend and data requests to the backend.</a:t>
            </a:r>
            <a:endParaRPr b="0" i="0" sz="1400" u="none" cap="none" strike="noStrike">
              <a:solidFill>
                <a:schemeClr val="dk1"/>
              </a:solidFill>
              <a:latin typeface="Arial"/>
              <a:ea typeface="Arial"/>
              <a:cs typeface="Arial"/>
              <a:sym typeface="Arial"/>
            </a:endParaRPr>
          </a:p>
        </p:txBody>
      </p:sp>
      <p:sp>
        <p:nvSpPr>
          <p:cNvPr id="205" name="Google Shape;205;p18"/>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Monitoring</a:t>
            </a:r>
            <a:endParaRPr sz="3000"/>
          </a:p>
        </p:txBody>
      </p:sp>
      <p:sp>
        <p:nvSpPr>
          <p:cNvPr id="212" name="Google Shape;212;p19"/>
          <p:cNvSpPr txBox="1"/>
          <p:nvPr/>
        </p:nvSpPr>
        <p:spPr>
          <a:xfrm>
            <a:off x="5943600" y="118872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Prometheus collects numbers from the running app. Grafana shows them.</a:t>
            </a:r>
            <a:endParaRPr b="0" i="0" sz="1600" u="none" cap="none" strike="noStrike">
              <a:solidFill>
                <a:schemeClr val="dk1"/>
              </a:solidFill>
              <a:latin typeface="Arial"/>
              <a:ea typeface="Arial"/>
              <a:cs typeface="Arial"/>
              <a:sym typeface="Arial"/>
            </a:endParaRPr>
          </a:p>
        </p:txBody>
      </p:sp>
      <p:sp>
        <p:nvSpPr>
          <p:cNvPr id="213" name="Google Shape;213;p19"/>
          <p:cNvSpPr txBox="1"/>
          <p:nvPr/>
        </p:nvSpPr>
        <p:spPr>
          <a:xfrm>
            <a:off x="5943600" y="2240280"/>
            <a:ext cx="2743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Requests, errors and response time, updated live.</a:t>
            </a:r>
            <a:endParaRPr b="0" i="0" sz="1400" u="none" cap="none" strike="noStrike">
              <a:solidFill>
                <a:schemeClr val="dk1"/>
              </a:solidFill>
              <a:latin typeface="Arial"/>
              <a:ea typeface="Arial"/>
              <a:cs typeface="Arial"/>
              <a:sym typeface="Arial"/>
            </a:endParaRPr>
          </a:p>
        </p:txBody>
      </p:sp>
      <p:sp>
        <p:nvSpPr>
          <p:cNvPr id="214" name="Google Shape;214;p19"/>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pic>
        <p:nvPicPr>
          <p:cNvPr id="215" name="Google Shape;215;p19"/>
          <p:cNvPicPr preferRelativeResize="0"/>
          <p:nvPr/>
        </p:nvPicPr>
        <p:blipFill>
          <a:blip r:embed="rId3">
            <a:alphaModFix/>
          </a:blip>
          <a:stretch>
            <a:fillRect/>
          </a:stretch>
        </p:blipFill>
        <p:spPr>
          <a:xfrm>
            <a:off x="191825" y="1188725"/>
            <a:ext cx="5638799" cy="311125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0"/>
          <p:cNvSpPr txBox="1"/>
          <p:nvPr>
            <p:ph type="title"/>
          </p:nvPr>
        </p:nvSpPr>
        <p:spPr>
          <a:xfrm>
            <a:off x="457200" y="320040"/>
            <a:ext cx="8229600" cy="5943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Why Kubernetes?</a:t>
            </a:r>
            <a:endParaRPr sz="3000"/>
          </a:p>
        </p:txBody>
      </p:sp>
      <p:graphicFrame>
        <p:nvGraphicFramePr>
          <p:cNvPr id="222" name="Google Shape;222;p20"/>
          <p:cNvGraphicFramePr/>
          <p:nvPr/>
        </p:nvGraphicFramePr>
        <p:xfrm>
          <a:off x="457200" y="1234440"/>
          <a:ext cx="3000000" cy="3000000"/>
        </p:xfrm>
        <a:graphic>
          <a:graphicData uri="http://schemas.openxmlformats.org/drawingml/2006/table">
            <a:tbl>
              <a:tblPr>
                <a:noFill/>
                <a:tableStyleId>{C71019E1-C1A5-4438-93AE-FC310FA8C23B}</a:tableStyleId>
              </a:tblPr>
              <a:tblGrid>
                <a:gridCol w="2377450"/>
                <a:gridCol w="3291850"/>
                <a:gridCol w="2560325"/>
              </a:tblGrid>
              <a:tr h="548650">
                <a:tc>
                  <a:txBody>
                    <a:bodyPr/>
                    <a:lstStyle/>
                    <a:p>
                      <a:pPr indent="0" lvl="0" marL="0" marR="0" rtl="0" algn="l">
                        <a:spcBef>
                          <a:spcPts val="0"/>
                        </a:spcBef>
                        <a:spcAft>
                          <a:spcPts val="0"/>
                        </a:spcAft>
                        <a:buClr>
                          <a:schemeClr val="lt1"/>
                        </a:buClr>
                        <a:buSzPts val="1400"/>
                        <a:buFont typeface="Arial"/>
                        <a:buNone/>
                      </a:pPr>
                      <a:r>
                        <a:rPr b="1" lang="en-US" sz="1400" u="none" cap="none" strike="noStrike">
                          <a:solidFill>
                            <a:schemeClr val="lt1"/>
                          </a:solidFill>
                        </a:rPr>
                        <a:t>Option</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Arial"/>
                        <a:buNone/>
                      </a:pPr>
                      <a:r>
                        <a:rPr b="1" lang="en-US" sz="1400" u="none" cap="none" strike="noStrike">
                          <a:solidFill>
                            <a:schemeClr val="lt1"/>
                          </a:solidFill>
                        </a:rPr>
                        <a:t>Good</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Arial"/>
                        <a:buNone/>
                      </a:pPr>
                      <a:r>
                        <a:rPr b="1" lang="en-US" sz="1400" u="none" cap="none" strike="noStrike">
                          <a:solidFill>
                            <a:schemeClr val="lt1"/>
                          </a:solidFill>
                        </a:rPr>
                        <a:t>Not so good</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accent1"/>
                    </a:solidFill>
                  </a:tcPr>
                </a:tc>
              </a:tr>
              <a:tr h="548650">
                <a:tc>
                  <a:txBody>
                    <a:bodyPr/>
                    <a:lstStyle/>
                    <a:p>
                      <a:pPr indent="0" lvl="0" marL="0" marR="0" rtl="0" algn="l">
                        <a:spcBef>
                          <a:spcPts val="0"/>
                        </a:spcBef>
                        <a:spcAft>
                          <a:spcPts val="0"/>
                        </a:spcAft>
                        <a:buClr>
                          <a:schemeClr val="dk1"/>
                        </a:buClr>
                        <a:buSzPts val="1400"/>
                        <a:buFont typeface="Arial"/>
                        <a:buNone/>
                      </a:pPr>
                      <a:r>
                        <a:rPr b="1" lang="en-US" sz="1400" u="none" cap="none" strike="noStrike">
                          <a:solidFill>
                            <a:schemeClr val="dk1"/>
                          </a:solidFill>
                        </a:rPr>
                        <a:t>Run by hand on a server</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Arial"/>
                        <a:buNone/>
                      </a:pPr>
                      <a:r>
                        <a:rPr lang="en-US" sz="1400" u="none" cap="none" strike="noStrike">
                          <a:solidFill>
                            <a:schemeClr val="dk1"/>
                          </a:solidFill>
                        </a:rPr>
                        <a:t>Simple to start</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Arial"/>
                        <a:buNone/>
                      </a:pPr>
                      <a:r>
                        <a:rPr lang="en-US" sz="1400" u="none" cap="none" strike="noStrike">
                          <a:solidFill>
                            <a:schemeClr val="dk1"/>
                          </a:solidFill>
                        </a:rPr>
                        <a:t>Slow, and easy to break</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r>
              <a:tr h="548650">
                <a:tc>
                  <a:txBody>
                    <a:bodyPr/>
                    <a:lstStyle/>
                    <a:p>
                      <a:pPr indent="0" lvl="0" marL="0" marR="0" rtl="0" algn="l">
                        <a:spcBef>
                          <a:spcPts val="0"/>
                        </a:spcBef>
                        <a:spcAft>
                          <a:spcPts val="0"/>
                        </a:spcAft>
                        <a:buClr>
                          <a:schemeClr val="dk1"/>
                        </a:buClr>
                        <a:buSzPts val="1400"/>
                        <a:buFont typeface="Arial"/>
                        <a:buNone/>
                      </a:pPr>
                      <a:r>
                        <a:rPr b="1" lang="en-US" sz="1400" u="none" cap="none" strike="noStrike">
                          <a:solidFill>
                            <a:schemeClr val="dk1"/>
                          </a:solidFill>
                        </a:rPr>
                        <a:t>Docker Compose</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Arial"/>
                        <a:buNone/>
                      </a:pPr>
                      <a:r>
                        <a:rPr lang="en-US" sz="1400" u="none" cap="none" strike="noStrike">
                          <a:solidFill>
                            <a:schemeClr val="dk1"/>
                          </a:solidFill>
                        </a:rPr>
                        <a:t>Great on one machine</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dk1"/>
                        </a:buClr>
                        <a:buSzPts val="1400"/>
                        <a:buFont typeface="Arial"/>
                        <a:buNone/>
                      </a:pPr>
                      <a:r>
                        <a:rPr lang="en-US" sz="1400" u="none" cap="none" strike="noStrike">
                          <a:solidFill>
                            <a:schemeClr val="dk1"/>
                          </a:solidFill>
                        </a:rPr>
                        <a:t>Cannot restart itself or scale</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1"/>
                    </a:solidFill>
                  </a:tcPr>
                </a:tc>
              </a:tr>
              <a:tr h="548650">
                <a:tc>
                  <a:txBody>
                    <a:bodyPr/>
                    <a:lstStyle/>
                    <a:p>
                      <a:pPr indent="0" lvl="0" marL="0" marR="0" rtl="0" algn="l">
                        <a:spcBef>
                          <a:spcPts val="0"/>
                        </a:spcBef>
                        <a:spcAft>
                          <a:spcPts val="0"/>
                        </a:spcAft>
                        <a:buClr>
                          <a:schemeClr val="dk1"/>
                        </a:buClr>
                        <a:buSzPts val="1400"/>
                        <a:buFont typeface="Arial"/>
                        <a:buNone/>
                      </a:pPr>
                      <a:r>
                        <a:rPr b="1" lang="en-US" sz="1400" u="none" cap="none" strike="noStrike">
                          <a:solidFill>
                            <a:schemeClr val="dk1"/>
                          </a:solidFill>
                        </a:rPr>
                        <a:t>Kubernetes (my choice)</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Arial"/>
                        <a:buNone/>
                      </a:pPr>
                      <a:r>
                        <a:rPr b="1" lang="en-US" sz="1400" u="none" cap="none" strike="noStrike">
                          <a:solidFill>
                            <a:schemeClr val="dk1"/>
                          </a:solidFill>
                        </a:rPr>
                        <a:t>Restarts crashed parts, runs 2 copies, safe updates</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chemeClr val="dk1"/>
                        </a:buClr>
                        <a:buSzPts val="1400"/>
                        <a:buFont typeface="Arial"/>
                        <a:buNone/>
                      </a:pPr>
                      <a:r>
                        <a:rPr b="1" lang="en-US" sz="1400" u="none" cap="none" strike="noStrike">
                          <a:solidFill>
                            <a:schemeClr val="dk1"/>
                          </a:solidFill>
                        </a:rPr>
                        <a:t>More to learn</a:t>
                      </a:r>
                      <a:endParaRPr sz="1400" u="none" cap="none" strike="noStrike"/>
                    </a:p>
                  </a:txBody>
                  <a:tcPr marT="91450" marB="91450" marR="91450" marL="91450" anchor="ctr">
                    <a:lnL cap="flat" cmpd="sng" w="9525">
                      <a:solidFill>
                        <a:srgbClr val="D0D0D0"/>
                      </a:solidFill>
                      <a:prstDash val="solid"/>
                      <a:round/>
                      <a:headEnd len="sm" w="sm" type="none"/>
                      <a:tailEnd len="sm" w="sm" type="none"/>
                    </a:lnL>
                    <a:lnR cap="flat" cmpd="sng" w="9525">
                      <a:solidFill>
                        <a:srgbClr val="D0D0D0"/>
                      </a:solidFill>
                      <a:prstDash val="solid"/>
                      <a:round/>
                      <a:headEnd len="sm" w="sm" type="none"/>
                      <a:tailEnd len="sm" w="sm" type="none"/>
                    </a:lnR>
                    <a:lnT cap="flat" cmpd="sng" w="9525">
                      <a:solidFill>
                        <a:srgbClr val="D0D0D0"/>
                      </a:solidFill>
                      <a:prstDash val="solid"/>
                      <a:round/>
                      <a:headEnd len="sm" w="sm" type="none"/>
                      <a:tailEnd len="sm" w="sm" type="none"/>
                    </a:lnT>
                    <a:lnB cap="flat" cmpd="sng" w="9525">
                      <a:solidFill>
                        <a:srgbClr val="D0D0D0"/>
                      </a:solidFill>
                      <a:prstDash val="solid"/>
                      <a:round/>
                      <a:headEnd len="sm" w="sm" type="none"/>
                      <a:tailEnd len="sm" w="sm" type="none"/>
                    </a:lnB>
                    <a:solidFill>
                      <a:schemeClr val="lt2"/>
                    </a:solidFill>
                  </a:tcPr>
                </a:tc>
              </a:tr>
            </a:tbl>
          </a:graphicData>
        </a:graphic>
      </p:graphicFrame>
      <p:sp>
        <p:nvSpPr>
          <p:cNvPr id="223" name="Google Shape;223;p20"/>
          <p:cNvSpPr txBox="1"/>
          <p:nvPr>
            <p:ph idx="4294967295" type="sldNum"/>
          </p:nvPr>
        </p:nvSpPr>
        <p:spPr>
          <a:xfrm>
            <a:off x="8229600" y="475488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dk2"/>
                </a:solidFill>
                <a:latin typeface="Arial"/>
                <a:ea typeface="Arial"/>
                <a:cs typeface="Arial"/>
                <a:sym typeface="Arial"/>
              </a:rPr>
              <a:t>‹#›</a:t>
            </a:fld>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457200" y="1417320"/>
            <a:ext cx="4206240" cy="8686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4400"/>
              <a:buFont typeface="Arial"/>
              <a:buNone/>
            </a:pPr>
            <a:r>
              <a:rPr b="1" lang="en-US" sz="4400">
                <a:solidFill>
                  <a:schemeClr val="dk1"/>
                </a:solidFill>
              </a:rPr>
              <a:t>Thank you</a:t>
            </a:r>
            <a:endParaRPr sz="4400"/>
          </a:p>
        </p:txBody>
      </p:sp>
      <p:sp>
        <p:nvSpPr>
          <p:cNvPr id="230" name="Google Shape;230;p21"/>
          <p:cNvSpPr txBox="1"/>
          <p:nvPr/>
        </p:nvSpPr>
        <p:spPr>
          <a:xfrm>
            <a:off x="457200" y="3383280"/>
            <a:ext cx="45720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Arial"/>
              <a:buNone/>
            </a:pPr>
            <a:r>
              <a:rPr b="0" i="0" lang="en-US" sz="1400" u="sng" cap="none" strike="noStrike">
                <a:solidFill>
                  <a:schemeClr val="hlink"/>
                </a:solidFill>
                <a:latin typeface="Arial"/>
                <a:ea typeface="Arial"/>
                <a:cs typeface="Arial"/>
                <a:sym typeface="Arial"/>
                <a:hlinkClick r:id="rId3"/>
              </a:rPr>
              <a:t>Code: github.com/anishkanase-scaler/Devops-Capstone</a:t>
            </a:r>
            <a:endParaRPr b="0" i="0" sz="1400" u="none" cap="none" strike="noStrike">
              <a:solidFill>
                <a:schemeClr val="dk1"/>
              </a:solidFill>
              <a:latin typeface="Arial"/>
              <a:ea typeface="Arial"/>
              <a:cs typeface="Arial"/>
              <a:sym typeface="Arial"/>
            </a:endParaRPr>
          </a:p>
          <a:p>
            <a:pPr indent="0" lvl="0" marL="0" marR="0" rtl="0" algn="l">
              <a:spcBef>
                <a:spcPts val="600"/>
              </a:spcBef>
              <a:spcAft>
                <a:spcPts val="0"/>
              </a:spcAft>
              <a:buClr>
                <a:schemeClr val="accent1"/>
              </a:buClr>
              <a:buSzPts val="1400"/>
              <a:buFont typeface="Arial"/>
              <a:buNone/>
            </a:pPr>
            <a:r>
              <a:rPr b="0" i="0" lang="en-US" sz="1400" u="sng" cap="none" strike="noStrike">
                <a:solidFill>
                  <a:schemeClr val="hlink"/>
                </a:solidFill>
                <a:latin typeface="Arial"/>
                <a:ea typeface="Arial"/>
                <a:cs typeface="Arial"/>
                <a:sym typeface="Arial"/>
                <a:hlinkClick r:id="rId4"/>
              </a:rPr>
              <a:t>Demo video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Petal Shop">
  <a:themeElements>
    <a:clrScheme name="Petal Shop">
      <a:dk1>
        <a:srgbClr val="222222"/>
      </a:dk1>
      <a:lt1>
        <a:srgbClr val="FFFFFF"/>
      </a:lt1>
      <a:dk2>
        <a:srgbClr val="666666"/>
      </a:dk2>
      <a:lt2>
        <a:srgbClr val="FDF0F5"/>
      </a:lt2>
      <a:accent1>
        <a:srgbClr val="C23A72"/>
      </a:accent1>
      <a:accent2>
        <a:srgbClr val="E8558F"/>
      </a:accent2>
      <a:accent3>
        <a:srgbClr val="F7B6CF"/>
      </a:accent3>
      <a:accent4>
        <a:srgbClr val="3B2030"/>
      </a:accent4>
      <a:accent5>
        <a:srgbClr val="2E8B57"/>
      </a:accent5>
      <a:accent6>
        <a:srgbClr val="F2A541"/>
      </a:accent6>
      <a:hlink>
        <a:srgbClr val="C23A72"/>
      </a:hlink>
      <a:folHlink>
        <a:srgbClr val="C23A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tal Shop">
  <a:themeElements>
    <a:clrScheme name="Petal Shop">
      <a:dk1>
        <a:srgbClr val="222222"/>
      </a:dk1>
      <a:lt1>
        <a:srgbClr val="FFFFFF"/>
      </a:lt1>
      <a:dk2>
        <a:srgbClr val="666666"/>
      </a:dk2>
      <a:lt2>
        <a:srgbClr val="FDF0F5"/>
      </a:lt2>
      <a:accent1>
        <a:srgbClr val="C23A72"/>
      </a:accent1>
      <a:accent2>
        <a:srgbClr val="E8558F"/>
      </a:accent2>
      <a:accent3>
        <a:srgbClr val="F7B6CF"/>
      </a:accent3>
      <a:accent4>
        <a:srgbClr val="3B2030"/>
      </a:accent4>
      <a:accent5>
        <a:srgbClr val="2E8B57"/>
      </a:accent5>
      <a:accent6>
        <a:srgbClr val="F2A541"/>
      </a:accent6>
      <a:hlink>
        <a:srgbClr val="C23A72"/>
      </a:hlink>
      <a:folHlink>
        <a:srgbClr val="C23A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